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6.jpg"/><Relationship Id="rId4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20.jpg"/><Relationship Id="rId5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6.jpg"/><Relationship Id="rId4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lay-leaf-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alopez-primary-jazmin@12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95728"/>
            <a:ext cx="5669280" cy="14409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160520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i="0" spc="65">
                <a:solidFill>
                  <a:srgbClr val="D6BD9A"/>
                </a:solidFill>
                <a:latin typeface="Poppins Light"/>
                <a:cs typeface="Poppins Light"/>
              </a:rPr>
              <a:t>House of fragrance and beauty  ·  Havana, Cuba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i="0" spc="408">
                <a:solidFill>
                  <a:srgbClr val="B8762A"/>
                </a:solidFill>
                <a:latin typeface="Poppins ExtraLight"/>
                <a:cs typeface="Poppins ExtraLight"/>
              </a:rPr>
              <a:t>BRAND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i="0" spc="56">
                <a:solidFill>
                  <a:srgbClr val="585C41"/>
                </a:solidFill>
                <a:latin typeface="Poppins Light"/>
                <a:cs typeface="Poppins Light"/>
              </a:rPr>
              <a:t>Version 1.0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A VELUM 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BRAND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2938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The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20824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Origin, purpose, values and territory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25496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70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62072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Logotype, lockups, clear space and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11879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Colour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03320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Palette, proportion and pairing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07992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5312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Typography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544568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The three families and the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2943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385816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Packaging, photography, symbol and endorsement</a:t>
            </a:r>
          </a:p>
        </p:txBody>
      </p:sp>
      <p:pic>
        <p:nvPicPr>
          <p:cNvPr id="19" name="Picture 18" descr="jasmine_sp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4617720"/>
            <a:ext cx="1737360" cy="15903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The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Origin, purpose, values and territory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0" y="530352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BRAND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868680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origin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91640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i="1">
                <a:solidFill>
                  <a:srgbClr val="492B17"/>
                </a:solidFill>
                <a:latin typeface="Bodoni Moda"/>
                <a:cs typeface="Bodoni Moda"/>
              </a:rPr>
              <a:t>“Every morning it smelled of jasmine.”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395728"/>
            <a:ext cx="65379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In Havana, beside the room where our founder slept as a child, a jasmine plant grew. Every morning, before the day began, its scent filled the garden.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Years later he discovered the plant had not started with him: it had belonged to his grandmother, Ana, who carried it from the house where she lived as a girl with her father.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One plant accompanied several generations of a family, until one day it was gone. But its scent had stayed in memory.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That memory is the origin of AnaLopez.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Purpose, vision and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To preserve emotions and memories through the universal language of perfume.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6234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1994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1994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1994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To be a reference perfume house born in Cuba, known for its olfactory identity and its emotional narrative.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9508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5268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5268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5268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To create fragrances that join memory, science, culture, craft and contemporary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What governs every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Personal stories are the raw material.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2555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5163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5163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5163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We honour what is passed between generations.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2151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Cuba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Origin, context and sensibility. Not decoration.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355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Biochemistry and molecular biology as a real foundation.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The formula and the execution matter as much as the story.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2555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5163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5163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Elegance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5163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Refined without being ostentatious.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2151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4759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759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Authenticity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759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The founding story stays true.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1747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355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355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355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Born of the past, but not trapped in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i="1">
                <a:solidFill>
                  <a:srgbClr val="492B17"/>
                </a:solidFill>
                <a:latin typeface="Bodoni Moda"/>
                <a:cs typeface="Bodoni Moda"/>
              </a:rPr>
              <a:t>A contemporary perfume house born in Cuba, turning family and cultural memory into fragrances with an identity of their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88920"/>
            <a:ext cx="4998567" cy="288036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4998567" cy="2880360"/>
          </a:xfrm>
          <a:prstGeom prst="rect">
            <a:avLst/>
          </a:prstGeom>
          <a:solidFill>
            <a:srgbClr val="D6BD9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585C41"/>
                </a:solidFill>
                <a:latin typeface="Poppins ExtraLight"/>
                <a:cs typeface="Poppins ExtraLight"/>
              </a:rPr>
              <a:t>DOES NOT COMPETE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Being “Cuban”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Being cheap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Being artisanal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Exotic ingredients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Looking like a souvenir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788920"/>
            <a:ext cx="4998567" cy="2880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5927" y="306324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COMPETES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52044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93192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34340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Olfaction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75488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516636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Personality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Elegant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8833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Intimate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Cultural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Contemporary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9534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Sensual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Intellectual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001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Refined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0235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Warm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Assured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0702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Mysterious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7830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585C41"/>
                </a:solidFill>
                <a:latin typeface="Poppins ExtraLight"/>
                <a:cs typeface="Poppins ExtraLight"/>
              </a:rPr>
              <a:t>IT IS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28600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Cheap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68833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Touristic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09067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Folkloric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49300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Overloaded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89534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Datedly nostalgic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29768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Too feminine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70001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Too masculine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510235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Generic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0468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Artificially “luxury”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THE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brand territory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Five worlds that make it hard to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918959" cy="82296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Cuba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Havana, gardens, architecture, coffee, tobacco, music,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9663" y="2194560"/>
            <a:ext cx="1918959" cy="82296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9663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663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Grandparents, childhood, houses, gardens, objects, rituals.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6367" y="2194560"/>
            <a:ext cx="1918959" cy="82296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6367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Botany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6367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Jasmine, flowers, leaves, roots, natural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3071" y="2194560"/>
            <a:ext cx="1918959" cy="82296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3071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071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Molecules, olfactory perception, formulation, biology.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9775" y="2194560"/>
            <a:ext cx="1918959" cy="82296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9775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Perfumery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9775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Composition, raw materials, skin, evolution.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ow_pal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1C241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B8762A"/>
                </a:solidFill>
                <a:latin typeface="Poppins ExtraLight"/>
                <a:cs typeface="Poppins ExtraLight"/>
              </a:rPr>
              <a:t>MANIFESTO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1206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Things change.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Houses change.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People grow.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Gardens disappear.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Generations pass.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But some memories remain.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Sometimes they arrive in a photograph.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Sometimes in a voice.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And sometimes, in a scent.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AnaLopez was born from one of them.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 jasmine.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 garden in Havana.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 grandmother named Ana.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The plant disappeared.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The memory remained.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D6BD9A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D6BD9A"/>
                </a:solidFill>
                <a:latin typeface="Poppins Light"/>
                <a:cs typeface="Poppins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k_ba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Logotype, lockups, clear space and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logotype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10545775" cy="19659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wordmark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487168"/>
            <a:ext cx="9235440" cy="22549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Italiana Regular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Structure, proportion, vertical 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7946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7946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Bodoni Moda Italic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The swash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2932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2932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AnaLopez logotype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Locked artwork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The logotype is a custom drawing, not a font setting. It starts from Italiana letterforms and replaces the terminal z with the swash z of Bodoni Moda Italic. The two are merged and redrawn so the swash resolves into the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5413248"/>
            <a:ext cx="3547872" cy="932688"/>
          </a:xfrm>
          <a:prstGeom prst="rect">
            <a:avLst/>
          </a:prstGeom>
          <a:solidFill>
            <a:srgbClr val="D6BD9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559552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Never reproduce it by typing “AnaLopez” in Italiana: the swash would be missing and the fit would be wrong. Always place the supplied vector.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four lockups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opez-primary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31135"/>
            <a:ext cx="3525687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317296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54787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Horizontal. The default. Web, stationery, advertising, headers.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74519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alopez-wordmark-negro@12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7" y="2267711"/>
            <a:ext cx="352028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207" y="317296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Wordmark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354787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No descriptor. Where the brand is already known or space is tight.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alopez-stacked-negro@8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498848"/>
            <a:ext cx="1062373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4440" y="550468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Stacked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87959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Monogram with descriptor. Vertical formats, labels, seals, social.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206240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alopez-monogram-negro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7" y="4498848"/>
            <a:ext cx="86546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207" y="550468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Monogram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587959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A/L only. Bottle cap, favicon, engraving, avatar, marking.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Clear space and minimum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6492240" cy="26060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2487168"/>
            <a:ext cx="4754880" cy="1463040"/>
          </a:xfrm>
          <a:prstGeom prst="rect">
            <a:avLst/>
          </a:prstGeom>
          <a:solidFill>
            <a:srgbClr val="D6BD9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primary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2825496"/>
            <a:ext cx="3913632" cy="994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7008" y="31272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31272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8483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0782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Clear space equals the height of the logotype's A (1x) on all sides. No other element, text or edge enters that zone.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MINIMUM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95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883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Print 32 mm wide  ·  Digital 180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821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Wordmark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Print 26 mm wide  ·  Digital 150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684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Stacked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6110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Print 18 mm wide  ·  Digital 96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548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Monogram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0474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Print 8 mm wide  ·  Digital 32 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Colour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Which version on which 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381135" cy="114300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monogram-negro@512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03" y="2331720"/>
            <a:ext cx="618186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Limewash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Black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399" y="2103120"/>
            <a:ext cx="1381135" cy="11430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nalopez-monogram-verde@512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943" y="2331720"/>
            <a:ext cx="618186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5039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Jasmine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39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Deep 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839" y="2103120"/>
            <a:ext cx="1381135" cy="1143000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alopez-monogram-cacao@512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383" y="2331720"/>
            <a:ext cx="618186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783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Sand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83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Cacao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5279" y="2103120"/>
            <a:ext cx="1381135" cy="11430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nalopez-monogram-jazmin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823" y="2331720"/>
            <a:ext cx="618186" cy="685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0527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Deep 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527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Jasmine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2719" y="2103120"/>
            <a:ext cx="1381135" cy="114300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nalopez-monogram-arena@512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1263" y="2331720"/>
            <a:ext cx="618186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3271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Black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271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Sand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0159" y="2103120"/>
            <a:ext cx="1381135" cy="11430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nalopez-monogram-arena@512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8703" y="2331720"/>
            <a:ext cx="618186" cy="685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6015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Cacao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15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Sand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87599" y="2103120"/>
            <a:ext cx="1381135" cy="11430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nalopez-monogram-jazmin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143" y="2331720"/>
            <a:ext cx="618186" cy="685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8759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Olive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759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Jasmine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2452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Seven monochrome versions. The logotype never carries more than one colour, never a gradient and never an outline. Over photography use Jasmine, always on a quiet area.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245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On Limewash or Jasmine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224528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Black, Deep Green or Cacao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7183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On Deep Green or Black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718304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Jasmine or Sand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2120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On Sand or kraft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212080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Cacao or Deep Green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7058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On photography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05856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Jasmine on a dark, quiet area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619963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Foil, emboss or engrave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199632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Amber (metal) or blind deboss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Misuse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NEVER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Re-typing the logotype in a font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7983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2303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2303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Stretching, condensing or slanting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Rotating the logotype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2351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2351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Adding shadow, glow or outline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Using more than one colour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7983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2303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2303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Moving or resizing the descriptor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Placing it over a busy photograph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8031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2351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2351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Enclosing it in a box or pill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monogram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4114800" cy="32004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opez-monogram-jazmin@512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606040"/>
            <a:ext cx="960120" cy="1065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1920240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The A and the L share the swash. It is the smallest asset in the system and the only one that works below 32 px. Used on bottle cap, seal, favicon, avatar and engraving.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29184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FAVICON AND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3749039"/>
            <a:ext cx="822960" cy="8229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vicon-negro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749039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4960" y="466344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3749039"/>
            <a:ext cx="603504" cy="603504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vicon-negro-180x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749039"/>
            <a:ext cx="603504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4443983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180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3749039"/>
            <a:ext cx="438912" cy="4389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vicon-negro-64x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3749039"/>
            <a:ext cx="438912" cy="438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3488" y="4279392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3749039"/>
            <a:ext cx="347472" cy="34747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vicon-negro-48x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1" y="3749039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8431" y="41879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1936" y="3749039"/>
            <a:ext cx="274320" cy="2743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vicon-negro-32x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36" y="3749039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31936" y="4114799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892040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16, 32, 48, 64, 180 and 512 px, in Black and Jasmine. Multi-resolution favicon.ico included.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Palette, proportion and pairing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COLOUR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Eight colours. Not one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87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206207" cy="160020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#0D0D0C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0 8 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13 13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Primary ink. Body text and default logotype.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6211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57183" y="2103120"/>
            <a:ext cx="1206207" cy="16002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7183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Deep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183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#1C2417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183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22 0 36 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183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28 36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183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Brand colour. Packaging, cartons, dark grounds.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0434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91407" y="2103120"/>
            <a:ext cx="1206207" cy="16002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1407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Olive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1407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#585C41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407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4 0 29 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1407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88 92 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1407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Secondary. Garden, botanical, mid surfaces.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4658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25631" y="2103120"/>
            <a:ext cx="1206207" cy="16002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5631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Cacao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631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#492B17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5631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41 68 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5631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73 43 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5631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Secondary. Roasted matter: coffee, tobacco, cacao.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8882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9855" y="2103120"/>
            <a:ext cx="1206207" cy="160020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9855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Amber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9855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#B8762A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9855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36 77 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9855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184 118 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9855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Single accent. Metal, foil, detail. Never dominant.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83106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4079" y="2103120"/>
            <a:ext cx="1206207" cy="1600200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4079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Sand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4079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#D6BD9A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4079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12 28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4079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214 189 154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4079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Warm neutral. Kraft, paper, wall shadow.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17330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28303" y="2103120"/>
            <a:ext cx="1206207" cy="16002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8303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Jasmine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8303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#EDE5DA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8303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3 8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8303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237 229 218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8303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Light base. Labels and reversed logotype.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1554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62527" y="2103120"/>
            <a:ext cx="1206207" cy="160020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62527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Limewash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62527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#F5F0EA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2527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2 4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2527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245 240 234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62527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Surface. Page and photography ground.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COLOUR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Proportion and pairing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The system is restrained by construction. A light surface dominates, a dark anchors, and Amber appears once per piece.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87" y="2412187"/>
            <a:ext cx="3972153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3950208" cy="4572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4780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414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Limewash or Jasmine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697479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Surface. Paper, ground, white 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" y="3198571"/>
            <a:ext cx="1667865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09544"/>
            <a:ext cx="1645920" cy="4572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264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2783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Deep Green or 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83863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Anchor. Cartons, type, dark blocks.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" y="3984955"/>
            <a:ext cx="680313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95928"/>
            <a:ext cx="658368" cy="4572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0507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1421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Olive, Cacao or Sand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702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Support. Matter, texture, secondaries.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" y="4771339"/>
            <a:ext cx="351129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782312"/>
            <a:ext cx="329184" cy="45720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8371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800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Amber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05663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Single accent. Foil, detail, once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NEVER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Amber as the ground of a whole piece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983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Cacao and Deep Green together at large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007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More than three palette colours in one piece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8031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Gradients between brand colours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The three families and the scale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Three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Italiana"/>
                <a:cs typeface="Italiana"/>
              </a:rPr>
              <a:t>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Italiana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Italiana"/>
                <a:cs typeface="Italiana"/>
              </a:rPr>
              <a:t>ABCDEFGHIJKLM abcdefghijklm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The base of the logotype. Outside it, only for very large numerals or a collection title, at 40 px and up. Never for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0138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0138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Bodoni Moda"/>
                <a:cs typeface="Bodoni Moda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0138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Bodoni Moda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DISPLAY AND EDITORIAL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Bodoni Moda"/>
                <a:cs typeface="Bodoni Moda"/>
              </a:rPr>
              <a:t>ABCDEFGHIJKLM abcdefghijklm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Headlines, collection names, quotes and campaign lines. It supplies the logotype's swash z. Below 18 px its hairlines break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7316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Poppins ExtraLight"/>
                <a:cs typeface="Poppins ExtraLight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Poppins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316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Poppins ExtraLight"/>
                <a:cs typeface="Poppins ExtraLight"/>
              </a:rPr>
              <a:t>ABCDEFGHIJKLM abcdefghijklm 0123456789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The descriptor, in ExtraLight at 0.30 em tracking. Also labels, navigation, ingredient lists, back-of-pack and body copy.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44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All three are SIL Open Font License: free for print, web, packaging and embedding.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Type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74519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7451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87451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Campaign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95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48-96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-2%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Heading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99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36-48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0273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Heading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027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24-32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Label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ExtraLight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11-13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+0.30 em, caps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97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0974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Regular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09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15-17 px / 1.7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809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13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Caption and legal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132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4132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11-12 px / 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54132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+0.02 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Packaging, photography, symbol and endorsement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The ritual of the experience</a:t>
            </a:r>
          </a:p>
        </p:txBody>
      </p:sp>
      <p:pic>
        <p:nvPicPr>
          <p:cNvPr id="5" name="Picture 4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3332378" cy="2298192"/>
          </a:xfrm>
          <a:prstGeom prst="rect">
            <a:avLst/>
          </a:prstGeom>
        </p:spPr>
      </p:pic>
      <p:pic>
        <p:nvPicPr>
          <p:cNvPr id="6" name="Picture 5" descr="mk_ba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658" y="2103120"/>
            <a:ext cx="3332378" cy="2298192"/>
          </a:xfrm>
          <a:prstGeom prst="rect">
            <a:avLst/>
          </a:prstGeom>
        </p:spPr>
      </p:pic>
      <p:pic>
        <p:nvPicPr>
          <p:cNvPr id="7" name="Picture 6" descr="mk_so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56" y="2103120"/>
            <a:ext cx="3332378" cy="2298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4117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4117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Texture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274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274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6431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6431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Bottle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7588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7588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Scent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8746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8746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54040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Carton in Deep Green, label in Jasmine, ribbon in Green or Amber, kraft for shipping. The drawn jasmine appears once per piece, never twice.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654040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i="1">
                <a:solidFill>
                  <a:srgbClr val="492B17"/>
                </a:solidFill>
                <a:latin typeface="Bodoni Moda"/>
                <a:cs typeface="Bodoni Moda"/>
              </a:rPr>
              <a:t>“This perfume began with a jasmine.”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Textures 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Material, not ornament</a:t>
            </a:r>
          </a:p>
        </p:txBody>
      </p:sp>
      <p:pic>
        <p:nvPicPr>
          <p:cNvPr id="5" name="Picture 4" descr="texture-limewash-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605229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Limewash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Page ground, label, photography wall.</a:t>
            </a:r>
          </a:p>
        </p:txBody>
      </p:sp>
      <p:pic>
        <p:nvPicPr>
          <p:cNvPr id="8" name="Picture 7" descr="texture-plaster-are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069" y="2103120"/>
            <a:ext cx="1605229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11069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Sand plaster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1069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Warm surface, still life, product ground.</a:t>
            </a:r>
          </a:p>
        </p:txBody>
      </p:sp>
      <p:pic>
        <p:nvPicPr>
          <p:cNvPr id="11" name="Picture 10" descr="texture-matte-board-ver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178" y="2103120"/>
            <a:ext cx="1605229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99178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Green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178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Carton, rigid box, bag, lid.</a:t>
            </a:r>
          </a:p>
        </p:txBody>
      </p:sp>
      <p:pic>
        <p:nvPicPr>
          <p:cNvPr id="14" name="Picture 13" descr="texture-matte-board-oliv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287" y="2103120"/>
            <a:ext cx="1605229" cy="1234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7287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Olive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Secondary, box interior, dividers.</a:t>
            </a:r>
          </a:p>
        </p:txBody>
      </p:sp>
      <p:pic>
        <p:nvPicPr>
          <p:cNvPr id="17" name="Picture 16" descr="texture-matte-board-caca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2103120"/>
            <a:ext cx="1605229" cy="1234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75396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Cacao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396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Roasted matter: coffee, tobacco, cacao.</a:t>
            </a:r>
          </a:p>
        </p:txBody>
      </p:sp>
      <p:pic>
        <p:nvPicPr>
          <p:cNvPr id="20" name="Picture 19" descr="texture-kraf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3506" y="2103120"/>
            <a:ext cx="1605229" cy="1234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63506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Kraft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3506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Shipping, filler, tissue, belly band.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The brand rests on real matter: limewash, plaster, paper and matte board. Texture is seen, not announced. One texture per piece.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57200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OVERLAY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88289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Leaf 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82896"/>
            <a:ext cx="36850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Cast over wall or product at 40-60% opacity. Never over the logotype.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949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Jasmine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394960"/>
            <a:ext cx="36850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Very sparse, single colour, 10-15% opacity. Box lining, tissue, reverse.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852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NEVER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9612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Two textures on the same surface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559612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Texture behind the logotype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0176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A dense or obviously repeating pattern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2424" y="5980176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Marble, gradient or fake metallic 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Image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What we photograph</a:t>
            </a:r>
          </a:p>
        </p:txBody>
      </p:sp>
      <p:pic>
        <p:nvPicPr>
          <p:cNvPr id="5" name="Picture 4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471851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Real jasmine, natural light, limewash wall</a:t>
            </a:r>
          </a:p>
        </p:txBody>
      </p:sp>
      <p:pic>
        <p:nvPicPr>
          <p:cNvPr id="7" name="Picture 6" descr="shadow_pal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67" y="2103120"/>
            <a:ext cx="2471851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14267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Vegetation shadow on a warm wall</a:t>
            </a:r>
          </a:p>
        </p:txBody>
      </p:sp>
      <p:pic>
        <p:nvPicPr>
          <p:cNvPr id="9" name="Picture 8" descr="mk_perfu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5" y="2103120"/>
            <a:ext cx="2471851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5575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Product forward, quiet ground</a:t>
            </a:r>
          </a:p>
        </p:txBody>
      </p:sp>
      <p:pic>
        <p:nvPicPr>
          <p:cNvPr id="11" name="Picture 10" descr="jasmine_she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83" y="2103120"/>
            <a:ext cx="2471851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96883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Raw matter: coffee, cacao, tobacco, wood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Natural and hard. Defined shadow of leaf or louvre.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6006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Colour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6006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Warm and contained. Real green, sand, cacao. Never saturated.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052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Framing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052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Generous. The air around the object is part of the picture.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2098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Grain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2098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Fine and visible. No plastic smoothing.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5144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5144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Hands, skin, gesture. Never looking at camera.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Art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4998567" cy="4206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51760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Hard natural light, with leaf shadow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73552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Limewash, plaster, stone walls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895344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Real green: jasmine, palm, foliage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3542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517136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Product forward, quiet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38927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Fine grain, warm and contained colour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1783080"/>
            <a:ext cx="4998567" cy="420624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0167" y="1783080"/>
            <a:ext cx="4998567" cy="4206240"/>
          </a:xfrm>
          <a:prstGeom prst="rect">
            <a:avLst/>
          </a:prstGeom>
          <a:solidFill>
            <a:srgbClr val="D6BD9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5927" y="210312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492B17"/>
                </a:solidFill>
                <a:latin typeface="Poppins ExtraLight"/>
                <a:cs typeface="Poppins ExtraLight"/>
              </a:rPr>
              <a:t>DON'T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7407" y="2651760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Flat studio light with no shadow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3291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407" y="3273552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High saturation or colour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27" y="39136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3895344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Cuba cliches: cars, flags, cigars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5927" y="453542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7407" y="4517136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Models looking at 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7407" y="5138927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Busy grounds behind the logotype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jasmine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Secondary symbol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3931920" cy="3310128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jasmine-branch-diagonal-oliva@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86000"/>
            <a:ext cx="3349818" cy="2852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2057400"/>
            <a:ext cx="615391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The jasmine flower is the house's secondary symbol: Ana's jasmine. It is drawn as line art, in a single colour, and appears on bottle, cap, seal, label and favicon.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It does not refer to “Havana”, but directly to 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931920"/>
            <a:ext cx="6153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27939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One palette colour only, never filled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64515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One appearance per piece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01091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Never combined with the monogram on the same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37667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Never used as a dense or repeating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The illustrations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Six jasmine drawings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jasmine-bloom-oliva@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12848"/>
            <a:ext cx="1467059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Bloom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1069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alopez-jasmine-branch-wide-oliva@6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97" y="2212848"/>
            <a:ext cx="2243738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11069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Branch wide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nalopez-jasmine-branch-diagonal-oliva@6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906" y="2212848"/>
            <a:ext cx="1567543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99178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Branch diagonal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alopez-jasmine-single-oliva@600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015" y="2212848"/>
            <a:ext cx="2048630" cy="1335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87287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Single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5396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nalopez-jasmine-spray-oliva@600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124" y="2212848"/>
            <a:ext cx="2218876" cy="1335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75396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Spray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63506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alopez-jasmine-stem-oliva@600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3234" y="2212848"/>
            <a:ext cx="1174508" cy="13350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63506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Six vector jasmine drawings, in all seven colour versions. This is the complete repertoire: no new flowers are drawn and these are not modified.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97680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6451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Single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64515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Favicon, seal, small marking.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0292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Spray and 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29200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Label, band, card corner.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413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Branches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413248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Carton, bag, header, full page.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972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Bloom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797296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Single large-format piece.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How it should look in the real world</a:t>
            </a:r>
          </a:p>
        </p:txBody>
      </p:sp>
      <p:pic>
        <p:nvPicPr>
          <p:cNvPr id="5" name="Picture 4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84831"/>
            <a:ext cx="3307994" cy="2281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Eau de Parfum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Clear bottle, label in Jasmine, carton in Deep Green. The jasmine embossed on the box, once only.</a:t>
            </a:r>
          </a:p>
        </p:txBody>
      </p:sp>
      <p:pic>
        <p:nvPicPr>
          <p:cNvPr id="8" name="Picture 7" descr="mk_ba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2084831"/>
            <a:ext cx="3307994" cy="2281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4185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Bag and stationery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Two versions: Jasmine with Amber handle, Deep Green with black handle. Logotype small and centred.</a:t>
            </a:r>
          </a:p>
        </p:txBody>
      </p:sp>
      <p:pic>
        <p:nvPicPr>
          <p:cNvPr id="11" name="Picture 10" descr="mk_so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740" y="2084831"/>
            <a:ext cx="3307994" cy="2281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6074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Soap and body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Paper band in Jasmine over a Cacao block. Kraft and Green ribbon for shipping.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i="0">
                <a:solidFill>
                  <a:srgbClr val="492B17"/>
                </a:solidFill>
                <a:latin typeface="Poppins Light"/>
                <a:cs typeface="Poppins Light"/>
              </a:rPr>
              <a:t>These pieces are the house's visual reference. Any question of proportion, colour or logotype placement is settled by looking at these three.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Iconography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A system, not a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Flower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Jasmine. Memory and origin.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4117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4117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4117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4117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Leaf. Garden and botany.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5274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Flask. Formulation and biology.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6431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431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Tobacco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Tobacco leaf. Ritual and earth.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7588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7588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Coffee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7588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Bean. Morning and home.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78746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8746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8746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8746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Pod. Warmth and pleasure.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262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Six subjects cover the whole universe of the house. Drawn as line art, at the same weight as the jasmine, on a 24 px grid.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526280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SPECIFICATION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846320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24 px grid, 1.5 px stroke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57216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Round caps, no fill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68112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One palette colour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779007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Same visual weight as the drawn jasmine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492B17"/>
                </a:solidFill>
                <a:latin typeface="Poppins Light"/>
                <a:cs typeface="Poppins Light"/>
              </a:rPr>
              <a:t>Outstanding: draw the six icons. Only the specification exists today.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VELUM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Discreet endorsement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AnaLopez operates as an independent house. VELUM appears discreetly, never inside the primary lockup, and never on the front face of a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WHERE IT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99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Back of pack and carton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6732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Website footer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9664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Corporate stationery and decks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Press releases and legal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971800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WHERE IT DOES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6499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Inside the AnaLopez lockup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76732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Front face of pack or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9664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Campaign, social or advertising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57200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With VELUM's navy and gold palette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057400"/>
            <a:ext cx="3456432" cy="301752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alopez-stacked-jazmin@8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87168"/>
            <a:ext cx="1417320" cy="12809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09560" y="416052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A VELUM 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257800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Poppins ExtraLight, caps, 0.30 em tracking, at no more than 40% of the logotype width, in Olive or Sand.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Voice and tagline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Poetic, but precise. Emotional, but sophisticated. Cultural, but contemporary. Personal, but never sentimental.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5029200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“Every morning it smelled of jasmine.”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23160"/>
            <a:ext cx="5193792" cy="1371600"/>
          </a:xfrm>
          <a:prstGeom prst="rect">
            <a:avLst/>
          </a:prstGeom>
          <a:solidFill>
            <a:srgbClr val="D6BD9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THAN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71800"/>
            <a:ext cx="455371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“A fragrance inspired by the magic of Cuba.”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DESCRIPTOR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Aromas que Transportan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160520"/>
            <a:ext cx="5193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TAGLINE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480560"/>
            <a:ext cx="5193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1">
                <a:solidFill>
                  <a:srgbClr val="492B17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The descriptor lives in the lockup. The tagline lives in campaign, never inside the logotype. Neither is translated.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BRAND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819655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AnaLopez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5887" y="1874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64727" y="1819655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House of fragrance and beauty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ORIGIN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532888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Cuba / Havana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587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727" y="2532888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Homage to Ana Lopez, the founding grandmother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00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DNA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46120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Jasmine + memory + Cuba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300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DIFFERENTIATOR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4727" y="3246120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Real story + science + 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959352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Contemporary niche perfumery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0142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4727" y="3959352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Premium 25-45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27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HERO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672584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Eau de Parfum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4727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DESCRIPTOR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4727" y="4672584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Aromas que Transportan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TAGLINE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385816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PARENT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727" y="5385816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VELUM, discreet endorsement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Brand Guidelines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lay-leaf-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alopez-monogram-jazmin@512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4519"/>
            <a:ext cx="841248" cy="933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461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i="0">
                <a:solidFill>
                  <a:srgbClr val="D6BD9A"/>
                </a:solidFill>
                <a:latin typeface="Poppins Light"/>
                <a:cs typeface="Poppins Light"/>
              </a:rPr>
              <a:t>And we decided to turn it into perfume.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i="1">
                <a:solidFill>
                  <a:srgbClr val="EDE5DA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A VELUM 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