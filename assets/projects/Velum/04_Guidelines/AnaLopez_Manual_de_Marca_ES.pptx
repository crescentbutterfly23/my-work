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6.jpg"/><Relationship Id="rId4" Type="http://schemas.openxmlformats.org/officeDocument/2006/relationships/image" Target="../media/image2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20.jpg"/><Relationship Id="rId5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6.jpg"/><Relationship Id="rId4" Type="http://schemas.openxmlformats.org/officeDocument/2006/relationships/image" Target="../media/image2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4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verlay-leaf-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analopez-primary-jazmin@1200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395728"/>
            <a:ext cx="5669280" cy="14409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4160520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i="0" spc="65">
                <a:solidFill>
                  <a:srgbClr val="D6BD9A"/>
                </a:solidFill>
                <a:latin typeface="Poppins Light"/>
                <a:cs typeface="Poppins Light"/>
              </a:rPr>
              <a:t>Casa de perfumeria y belleza  ·  La Habana, Cuba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7492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i="0" spc="408">
                <a:solidFill>
                  <a:srgbClr val="B8762A"/>
                </a:solidFill>
                <a:latin typeface="Poppins ExtraLight"/>
                <a:cs typeface="Poppins ExtraLight"/>
              </a:rPr>
              <a:t>MANUAL DE MARCA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40680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50" i="0" spc="56">
                <a:solidFill>
                  <a:srgbClr val="585C41"/>
                </a:solidFill>
                <a:latin typeface="Poppins Light"/>
                <a:cs typeface="Poppins Light"/>
              </a:rPr>
              <a:t>Version 1.0  ·  Agosto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 i="0" spc="270">
                <a:solidFill>
                  <a:srgbClr val="D6BD9A"/>
                </a:solidFill>
                <a:latin typeface="Poppins ExtraLight"/>
                <a:cs typeface="Poppins ExtraLight"/>
              </a:rPr>
              <a:t>UNA CASA VELUM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MANUAL DE MARCA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Contenido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84248"/>
            <a:ext cx="685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0">
                <a:solidFill>
                  <a:srgbClr val="B8762A"/>
                </a:solidFill>
                <a:latin typeface="Bodoni Moda"/>
                <a:cs typeface="Bodoni Mod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929384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0">
                <a:solidFill>
                  <a:srgbClr val="0D0D0C"/>
                </a:solidFill>
                <a:latin typeface="Bodoni Moda"/>
                <a:cs typeface="Bodoni Moda"/>
              </a:rPr>
              <a:t>La Casa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20824"/>
            <a:ext cx="64309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Origen, proposito, valores y territorio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25496"/>
            <a:ext cx="685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0">
                <a:solidFill>
                  <a:srgbClr val="B8762A"/>
                </a:solidFill>
                <a:latin typeface="Bodoni Moda"/>
                <a:cs typeface="Bodoni Mod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770632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0">
                <a:solidFill>
                  <a:srgbClr val="0D0D0C"/>
                </a:solidFill>
                <a:latin typeface="Bodoni Moda"/>
                <a:cs typeface="Bodoni Moda"/>
              </a:rPr>
              <a:t>Identidad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862072"/>
            <a:ext cx="64309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Logotipo, lockups, area de respeto y usos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66744"/>
            <a:ext cx="685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0">
                <a:solidFill>
                  <a:srgbClr val="B8762A"/>
                </a:solidFill>
                <a:latin typeface="Bodoni Moda"/>
                <a:cs typeface="Bodoni Moda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611879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0">
                <a:solidFill>
                  <a:srgbClr val="0D0D0C"/>
                </a:solidFill>
                <a:latin typeface="Bodoni Moda"/>
                <a:cs typeface="Bodoni Moda"/>
              </a:rPr>
              <a:t>Color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703320"/>
            <a:ext cx="64309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Paleta, proporcion y combinaciones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07992"/>
            <a:ext cx="685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0">
                <a:solidFill>
                  <a:srgbClr val="B8762A"/>
                </a:solidFill>
                <a:latin typeface="Bodoni Moda"/>
                <a:cs typeface="Bodoni Mod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453128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0">
                <a:solidFill>
                  <a:srgbClr val="0D0D0C"/>
                </a:solidFill>
                <a:latin typeface="Bodoni Moda"/>
                <a:cs typeface="Bodoni Moda"/>
              </a:rPr>
              <a:t>Tipografia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544568"/>
            <a:ext cx="64309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Las tres familias y la escala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685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0">
                <a:solidFill>
                  <a:srgbClr val="B8762A"/>
                </a:solidFill>
                <a:latin typeface="Bodoni Moda"/>
                <a:cs typeface="Bodoni Moda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294376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0">
                <a:solidFill>
                  <a:srgbClr val="0D0D0C"/>
                </a:solidFill>
                <a:latin typeface="Bodoni Moda"/>
                <a:cs typeface="Bodoni Moda"/>
              </a:rPr>
              <a:t>Aplicacion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385816"/>
            <a:ext cx="64309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Packaging, fotografia, simbolo y endoso</a:t>
            </a:r>
          </a:p>
        </p:txBody>
      </p:sp>
      <p:pic>
        <p:nvPicPr>
          <p:cNvPr id="19" name="Picture 18" descr="jasmine_spri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375" y="4617720"/>
            <a:ext cx="1737360" cy="159035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4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jasmine_w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09360" y="0"/>
            <a:ext cx="5882335" cy="6858000"/>
          </a:xfrm>
          <a:prstGeom prst="rect">
            <a:avLst/>
          </a:prstGeom>
          <a:solidFill>
            <a:srgbClr val="1C241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i="0">
                <a:solidFill>
                  <a:srgbClr val="B8762A"/>
                </a:solidFill>
                <a:latin typeface="Bodoni Moda"/>
                <a:cs typeface="Bodoni Mod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i="0">
                <a:solidFill>
                  <a:srgbClr val="EDE5DA"/>
                </a:solidFill>
                <a:latin typeface="Bodoni Moda"/>
                <a:cs typeface="Bodoni Moda"/>
              </a:rPr>
              <a:t>La Casa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i="0">
                <a:solidFill>
                  <a:srgbClr val="D6BD9A"/>
                </a:solidFill>
                <a:latin typeface="Poppins Light"/>
                <a:cs typeface="Poppins Light"/>
              </a:rPr>
              <a:t>Origen, proposito, valores y territorio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jasmine_w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48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46320" y="530352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MANUAL DE MARCA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868680"/>
            <a:ext cx="6583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El origen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691640"/>
            <a:ext cx="6583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i="1">
                <a:solidFill>
                  <a:srgbClr val="492B17"/>
                </a:solidFill>
                <a:latin typeface="Bodoni Moda"/>
                <a:cs typeface="Bodoni Moda"/>
              </a:rPr>
              <a:t>“Cada manana olia a jazmin.”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395728"/>
            <a:ext cx="653796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>En La Habana, junto al cuarto donde dormia su fundador cuando era nino, crecia una planta de jazmin. Cada manana, antes de comenzar el dia, su aroma llenaba el jardin.</a:t>
            </a:r>
          </a:p>
          <a:p>
            <a:pPr algn="l">
              <a:lnSpc>
                <a:spcPct val="162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/>
            </a:r>
          </a:p>
          <a:p>
            <a:pPr algn="l">
              <a:lnSpc>
                <a:spcPct val="162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>Anos despues descubrio que aquella planta no habia comenzado con el: habia pertenecido a su abuela, Ana, quien la llevo desde la casa donde vivia de nina con su padre.</a:t>
            </a:r>
          </a:p>
          <a:p>
            <a:pPr algn="l">
              <a:lnSpc>
                <a:spcPct val="162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/>
            </a:r>
          </a:p>
          <a:p>
            <a:pPr algn="l">
              <a:lnSpc>
                <a:spcPct val="162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>Una misma planta acompano a distintas generaciones de una familia, hasta que un dia desaparecio. Pero su aroma habia quedado en la memoria.</a:t>
            </a:r>
          </a:p>
          <a:p>
            <a:pPr algn="l">
              <a:lnSpc>
                <a:spcPct val="162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/>
            </a:r>
          </a:p>
          <a:p>
            <a:pPr algn="l">
              <a:lnSpc>
                <a:spcPct val="162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>Esa memoria es el origen de AnaLopez.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LA CASA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Proposito, vision y mision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3259226" cy="306324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33172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 spc="263">
                <a:solidFill>
                  <a:srgbClr val="B8762A"/>
                </a:solidFill>
                <a:latin typeface="Poppins ExtraLight"/>
                <a:cs typeface="Poppins ExtraLigh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252770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i="0">
                <a:solidFill>
                  <a:srgbClr val="0D0D0C"/>
                </a:solidFill>
                <a:latin typeface="Bodoni Moda"/>
                <a:cs typeface="Bodoni Moda"/>
              </a:rPr>
              <a:t>Proposito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401568"/>
            <a:ext cx="252770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50" i="0">
                <a:solidFill>
                  <a:srgbClr val="585C41"/>
                </a:solidFill>
                <a:latin typeface="Poppins Light"/>
                <a:cs typeface="Poppins Light"/>
              </a:rPr>
              <a:t>Preservar emociones y memorias a traves del lenguaje universal del perfume.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66234" y="2011680"/>
            <a:ext cx="3259226" cy="306324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31994" y="233172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 spc="263">
                <a:solidFill>
                  <a:srgbClr val="B8762A"/>
                </a:solidFill>
                <a:latin typeface="Poppins ExtraLight"/>
                <a:cs typeface="Poppins ExtraLigh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31994" y="2743200"/>
            <a:ext cx="252770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i="0">
                <a:solidFill>
                  <a:srgbClr val="0D0D0C"/>
                </a:solidFill>
                <a:latin typeface="Bodoni Moda"/>
                <a:cs typeface="Bodoni Moda"/>
              </a:rPr>
              <a:t>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1994" y="3401568"/>
            <a:ext cx="252770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50" i="0">
                <a:solidFill>
                  <a:srgbClr val="585C41"/>
                </a:solidFill>
                <a:latin typeface="Poppins Light"/>
                <a:cs typeface="Poppins Light"/>
              </a:rPr>
              <a:t>Ser una casa de perfumeria de referencia nacida en Cuba, reconocida por su identidad olfativa y su narrativa emocional.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9508" y="2011680"/>
            <a:ext cx="3259226" cy="306324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5268" y="233172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 spc="263">
                <a:solidFill>
                  <a:srgbClr val="B8762A"/>
                </a:solidFill>
                <a:latin typeface="Poppins ExtraLight"/>
                <a:cs typeface="Poppins ExtraLigh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5268" y="2743200"/>
            <a:ext cx="252770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i="0">
                <a:solidFill>
                  <a:srgbClr val="0D0D0C"/>
                </a:solidFill>
                <a:latin typeface="Bodoni Moda"/>
                <a:cs typeface="Bodoni Moda"/>
              </a:rPr>
              <a:t>Mision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5268" y="3401568"/>
            <a:ext cx="252770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50" i="0">
                <a:solidFill>
                  <a:srgbClr val="585C41"/>
                </a:solidFill>
                <a:latin typeface="Poppins Light"/>
                <a:cs typeface="Poppins Light"/>
              </a:rPr>
              <a:t>Crear fragancias que unan memoria, ciencia, cultura, artesania y diseno contemporaneo.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LA CASA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Valores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Lo que gobierna cada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2416987" cy="1810512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40487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715768"/>
            <a:ext cx="18317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Memoria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72968"/>
            <a:ext cx="183177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Las historias personales son materia prima.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32555" y="2148840"/>
            <a:ext cx="2416987" cy="1810512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25163" y="240487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5163" y="2715768"/>
            <a:ext cx="18317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Herencia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5163" y="3172968"/>
            <a:ext cx="183177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Se honra aquello que se transmite entre generaciones.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2151" y="2148840"/>
            <a:ext cx="2416987" cy="1810512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240487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2715768"/>
            <a:ext cx="18317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Cuba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3172968"/>
            <a:ext cx="183177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Origen, contexto y sensibilidad. No decoracion.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51747" y="2148840"/>
            <a:ext cx="2416987" cy="1810512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4355" y="240487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355" y="2715768"/>
            <a:ext cx="18317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Ciencia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355" y="3172968"/>
            <a:ext cx="183177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Bioquimica y biologia molecular como base real.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197096"/>
            <a:ext cx="2416987" cy="1810512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45312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764024"/>
            <a:ext cx="18317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Artesania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221224"/>
            <a:ext cx="183177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La formula y la ejecucion importan tanto como la historia.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32555" y="4197096"/>
            <a:ext cx="2416987" cy="1810512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25163" y="445312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25163" y="4764024"/>
            <a:ext cx="18317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Elegancia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25163" y="5221224"/>
            <a:ext cx="183177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Refinada sin ser ostentosa.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2151" y="4197096"/>
            <a:ext cx="2416987" cy="1810512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4759" y="445312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4759" y="4764024"/>
            <a:ext cx="18317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Autenticidad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4759" y="5221224"/>
            <a:ext cx="183177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La historia fundacional se mantiene verdadera.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51747" y="4197096"/>
            <a:ext cx="2416987" cy="1810512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44355" y="445312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4355" y="4764024"/>
            <a:ext cx="183177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Evolucion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44355" y="5221224"/>
            <a:ext cx="183177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Nace del pasado, pero no queda atrapada en 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LA CASA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Posicionamiento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27632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i="1">
                <a:solidFill>
                  <a:srgbClr val="492B17"/>
                </a:solidFill>
                <a:latin typeface="Bodoni Moda"/>
                <a:cs typeface="Bodoni Moda"/>
              </a:rPr>
              <a:t>Casa de perfumeria contemporanea nacida en Cuba, que transforma memorias familiares y culturales en fragancias con identidad propia.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788920"/>
            <a:ext cx="4998567" cy="2880360"/>
          </a:xfrm>
          <a:prstGeom prst="rect">
            <a:avLst/>
          </a:prstGeom>
          <a:solidFill>
            <a:srgbClr val="F5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788920"/>
            <a:ext cx="4998567" cy="2880360"/>
          </a:xfrm>
          <a:prstGeom prst="rect">
            <a:avLst/>
          </a:prstGeom>
          <a:solidFill>
            <a:srgbClr val="D6BD9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063240"/>
            <a:ext cx="42670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294">
                <a:solidFill>
                  <a:srgbClr val="585C41"/>
                </a:solidFill>
                <a:latin typeface="Poppins ExtraLight"/>
                <a:cs typeface="Poppins ExtraLight"/>
              </a:rPr>
              <a:t>NO COMPITE POR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520440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i="0">
                <a:solidFill>
                  <a:srgbClr val="585C41"/>
                </a:solidFill>
                <a:latin typeface="Poppins Light"/>
                <a:cs typeface="Poppins Light"/>
              </a:rPr>
              <a:t>Ser “cubana”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931920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i="0">
                <a:solidFill>
                  <a:srgbClr val="585C41"/>
                </a:solidFill>
                <a:latin typeface="Poppins Light"/>
                <a:cs typeface="Poppins Light"/>
              </a:rPr>
              <a:t>Ser barata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343400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i="0">
                <a:solidFill>
                  <a:srgbClr val="585C41"/>
                </a:solidFill>
                <a:latin typeface="Poppins Light"/>
                <a:cs typeface="Poppins Light"/>
              </a:rPr>
              <a:t>Ser artesanal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754880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i="0">
                <a:solidFill>
                  <a:srgbClr val="585C41"/>
                </a:solidFill>
                <a:latin typeface="Poppins Light"/>
                <a:cs typeface="Poppins Light"/>
              </a:rPr>
              <a:t>Ingredientes exoticos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166360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i="0">
                <a:solidFill>
                  <a:srgbClr val="585C41"/>
                </a:solidFill>
                <a:latin typeface="Poppins Light"/>
                <a:cs typeface="Poppins Light"/>
              </a:rPr>
              <a:t>Parecer souvenir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2788920"/>
            <a:ext cx="4998567" cy="28803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5927" y="3063240"/>
            <a:ext cx="42670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294">
                <a:solidFill>
                  <a:srgbClr val="B8762A"/>
                </a:solidFill>
                <a:latin typeface="Poppins ExtraLight"/>
                <a:cs typeface="Poppins ExtraLight"/>
              </a:rPr>
              <a:t>COMPITE POR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5927" y="3520440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Historia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5927" y="3931920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Identidad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4343400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Olfaccion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5927" y="4754880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Diseno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5927" y="5166360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Experiencia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LA CASA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Personalidad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49985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294">
                <a:solidFill>
                  <a:srgbClr val="B8762A"/>
                </a:solidFill>
                <a:latin typeface="Poppins ExtraLight"/>
                <a:cs typeface="Poppins ExtraLight"/>
              </a:rPr>
              <a:t>SI 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Elegante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88336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Intima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90672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Cultural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93008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Contemporanea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95344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Sensual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Intelectual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00016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Refinada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02352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Calida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04688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Segura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07024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Misteriosa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1783080"/>
            <a:ext cx="49985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294">
                <a:solidFill>
                  <a:srgbClr val="585C41"/>
                </a:solidFill>
                <a:latin typeface="Poppins ExtraLight"/>
                <a:cs typeface="Poppins ExtraLight"/>
              </a:rPr>
              <a:t>NO 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2286000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585C41"/>
                </a:solidFill>
                <a:latin typeface="Poppins Light"/>
                <a:cs typeface="Poppins Light"/>
              </a:rPr>
              <a:t>Barata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2688336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585C41"/>
                </a:solidFill>
                <a:latin typeface="Poppins Light"/>
                <a:cs typeface="Poppins Light"/>
              </a:rPr>
              <a:t>Turistica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3090672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585C41"/>
                </a:solidFill>
                <a:latin typeface="Poppins Light"/>
                <a:cs typeface="Poppins Light"/>
              </a:rPr>
              <a:t>Folclorica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3493008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585C41"/>
                </a:solidFill>
                <a:latin typeface="Poppins Light"/>
                <a:cs typeface="Poppins Light"/>
              </a:rPr>
              <a:t>Sobrecargada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895344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585C41"/>
                </a:solidFill>
                <a:latin typeface="Poppins Light"/>
                <a:cs typeface="Poppins Light"/>
              </a:rPr>
              <a:t>Nostalgica anticuada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4297680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585C41"/>
                </a:solidFill>
                <a:latin typeface="Poppins Light"/>
                <a:cs typeface="Poppins Light"/>
              </a:rPr>
              <a:t>Demasiado femenina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700016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585C41"/>
                </a:solidFill>
                <a:latin typeface="Poppins Light"/>
                <a:cs typeface="Poppins Light"/>
              </a:rPr>
              <a:t>Demasiado masculina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0167" y="5102352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585C41"/>
                </a:solidFill>
                <a:latin typeface="Poppins Light"/>
                <a:cs typeface="Poppins Light"/>
              </a:rPr>
              <a:t>Generica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04688"/>
            <a:ext cx="499856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585C41"/>
                </a:solidFill>
                <a:latin typeface="Poppins Light"/>
                <a:cs typeface="Poppins Light"/>
              </a:rPr>
              <a:t>“Luxury” artificial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LA CASA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El territorio de marca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Cinco mundos que la hacen dificil de copiar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1918959" cy="822960"/>
          </a:xfrm>
          <a:prstGeom prst="rect">
            <a:avLst/>
          </a:prstGeom>
          <a:solidFill>
            <a:srgbClr val="1C2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918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Cuba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91895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La Habana, jardines, arquitectura, cafe, tabaco, musica, memoria.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9663" y="2194560"/>
            <a:ext cx="1918959" cy="822960"/>
          </a:xfrm>
          <a:prstGeom prst="rect">
            <a:avLst/>
          </a:prstGeom>
          <a:solidFill>
            <a:srgbClr val="492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9663" y="3200400"/>
            <a:ext cx="1918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Memoria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9663" y="3657600"/>
            <a:ext cx="191895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Abuelos, infancia, casas, jardines, objetos, rituales.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36367" y="2194560"/>
            <a:ext cx="1918959" cy="822960"/>
          </a:xfrm>
          <a:prstGeom prst="rect">
            <a:avLst/>
          </a:prstGeom>
          <a:solidFill>
            <a:srgbClr val="585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6367" y="3200400"/>
            <a:ext cx="1918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Botanica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6367" y="3657600"/>
            <a:ext cx="191895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Jazmin, flores, hojas, raices, materias naturales.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93071" y="2194560"/>
            <a:ext cx="1918959" cy="822960"/>
          </a:xfrm>
          <a:prstGeom prst="rect">
            <a:avLst/>
          </a:prstGeom>
          <a:solidFill>
            <a:srgbClr val="0D0D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3071" y="3200400"/>
            <a:ext cx="1918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Ciencia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3071" y="3657600"/>
            <a:ext cx="191895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Moleculas, percepcion olfativa, formulacion, biologia.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49775" y="2194560"/>
            <a:ext cx="1918959" cy="822960"/>
          </a:xfrm>
          <a:prstGeom prst="rect">
            <a:avLst/>
          </a:prstGeom>
          <a:solidFill>
            <a:srgbClr val="B8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49775" y="3200400"/>
            <a:ext cx="1918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i="0">
                <a:solidFill>
                  <a:srgbClr val="0D0D0C"/>
                </a:solidFill>
                <a:latin typeface="Bodoni Moda"/>
                <a:cs typeface="Bodoni Moda"/>
              </a:rPr>
              <a:t>Perfumeria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9775" y="3657600"/>
            <a:ext cx="191895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Composicion, materias primas, piel, evolucion.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4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hadow_pal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0"/>
            <a:ext cx="55165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75120" y="0"/>
            <a:ext cx="5516575" cy="6858000"/>
          </a:xfrm>
          <a:prstGeom prst="rect">
            <a:avLst/>
          </a:prstGeom>
          <a:solidFill>
            <a:srgbClr val="1C241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B8762A"/>
                </a:solidFill>
                <a:latin typeface="Poppins ExtraLight"/>
                <a:cs typeface="Poppins ExtraLight"/>
              </a:rPr>
              <a:t>MANIFIESTO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512064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Las cosas cambian.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Las casas cambian.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Las personas crecen.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Los jardines desaparecen.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Las generaciones pasan.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Pero algunos recuerdos permanecen.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/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A veces llegan en una fotografia.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A veces en una voz.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Y algunas veces, en un aroma.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/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AnaLopez nacio de uno de ellos.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Un jazmin.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Un jardin en La Habana.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Una abuela llamada Ana.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/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La planta desaparecio.</a:t>
            </a:r>
          </a:p>
          <a:p>
            <a:pPr algn="l">
              <a:lnSpc>
                <a:spcPct val="148000"/>
              </a:lnSpc>
            </a:pPr>
            <a:r>
              <a:rPr sz="1350" i="0">
                <a:solidFill>
                  <a:srgbClr val="EDE5DA"/>
                </a:solidFill>
                <a:latin typeface="Bodoni Moda"/>
                <a:cs typeface="Bodoni Moda"/>
              </a:rPr>
              <a:t>La memoria permanecio.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D6BD9A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D6BD9A"/>
                </a:solidFill>
                <a:latin typeface="Poppins Light"/>
                <a:cs typeface="Poppins Ligh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4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k_ba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09360" y="0"/>
            <a:ext cx="5882335" cy="6858000"/>
          </a:xfrm>
          <a:prstGeom prst="rect">
            <a:avLst/>
          </a:prstGeom>
          <a:solidFill>
            <a:srgbClr val="1C241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i="0">
                <a:solidFill>
                  <a:srgbClr val="B8762A"/>
                </a:solidFill>
                <a:latin typeface="Bodoni Moda"/>
                <a:cs typeface="Bodoni Moda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i="0">
                <a:solidFill>
                  <a:srgbClr val="EDE5DA"/>
                </a:solidFill>
                <a:latin typeface="Bodoni Moda"/>
                <a:cs typeface="Bodoni Moda"/>
              </a:rPr>
              <a:t>Identidad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i="0">
                <a:solidFill>
                  <a:srgbClr val="D6BD9A"/>
                </a:solidFill>
                <a:latin typeface="Poppins Light"/>
                <a:cs typeface="Poppins Light"/>
              </a:rPr>
              <a:t>Logotipo, lockups, area de respeto y usos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IDENTIDAD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El logotipo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Construccion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57400"/>
            <a:ext cx="10545775" cy="19659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alopez-wordmark-negro@12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487168"/>
            <a:ext cx="9235440" cy="22549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31596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329580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Italiana Regular</a:t>
            </a:r>
          </a:p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Estructura, proporcion, eje vertical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7946" y="431596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7946" y="4617720"/>
            <a:ext cx="329580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Bodoni Moda Italic</a:t>
            </a:r>
          </a:p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La z con swash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2932" y="431596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2932" y="4617720"/>
            <a:ext cx="329580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Logotipo AnaLopez</a:t>
            </a:r>
          </a:p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Dibujo bloqueado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04688"/>
            <a:ext cx="6766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El logotipo es un dibujo propio, no una fuente. Parte de las letras de Italiana y sustituye la z final por la z con swash de Bodoni Moda Italic. Las dos se fusionan y se redibujan para que el swash resuelva sobre la linea de base.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5413248"/>
            <a:ext cx="3547872" cy="932688"/>
          </a:xfrm>
          <a:prstGeom prst="rect">
            <a:avLst/>
          </a:prstGeom>
          <a:solidFill>
            <a:srgbClr val="D6BD9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5559552"/>
            <a:ext cx="31089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492B17"/>
                </a:solidFill>
                <a:latin typeface="Poppins Light"/>
                <a:cs typeface="Poppins Light"/>
              </a:rPr>
              <a:t>Nunca se reproduce escribiendo “AnaLopez” en Italiana: faltaria el swash y el ajuste seria incorrecto. Siempre se coloca el vector suministrado.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IDENTIDAD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Los cuatro lockups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5090007" cy="210312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nalopez-primary-negro@12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231135"/>
            <a:ext cx="3525687" cy="896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4440" y="3172968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Principal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547872"/>
            <a:ext cx="42670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Horizontal. El uso por defecto. Web, papeleria, anuncios, cabeceras.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1874519"/>
            <a:ext cx="5090007" cy="210312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nalopez-wordmark-negro@1200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207" y="2267711"/>
            <a:ext cx="3520284" cy="859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90207" y="3172968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Logotipo solo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207" y="3547872"/>
            <a:ext cx="42670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Sin descriptor. Cuando la marca ya es conocida o el espacio es estrecho.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206240"/>
            <a:ext cx="5090007" cy="210312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nalopez-stacked-negro@800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4498848"/>
            <a:ext cx="1062373" cy="960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34440" y="5504688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Apilado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879592"/>
            <a:ext cx="42670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Monograma con descriptor. Formatos verticales, etiquetas, sellos, redes.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4206240"/>
            <a:ext cx="5090007" cy="210312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nalopez-monogram-negro@512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207" y="4498848"/>
            <a:ext cx="865460" cy="9601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90207" y="5504688"/>
            <a:ext cx="426704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Monograma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207" y="5879592"/>
            <a:ext cx="42670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Solo A/L. Tapa de frasco, favicon, grabado, avatar, marcaje.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IDENTIDAD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Area de respeto y tamano minimo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6492240" cy="260604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91640" y="2487168"/>
            <a:ext cx="4754880" cy="1463040"/>
          </a:xfrm>
          <a:prstGeom prst="rect">
            <a:avLst/>
          </a:prstGeom>
          <a:solidFill>
            <a:srgbClr val="D6BD9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alopez-primary-negro@12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408" y="2825496"/>
            <a:ext cx="3913632" cy="9947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07008" y="312724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 spc="162">
                <a:solidFill>
                  <a:srgbClr val="B8762A"/>
                </a:solidFill>
                <a:latin typeface="Poppins ExtraLight"/>
                <a:cs typeface="Poppins ExtraLight"/>
              </a:rPr>
              <a:t>1x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312724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 spc="162">
                <a:solidFill>
                  <a:srgbClr val="B8762A"/>
                </a:solidFill>
                <a:latin typeface="Poppins ExtraLight"/>
                <a:cs typeface="Poppins ExtraLight"/>
              </a:rPr>
              <a:t>1x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084831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 spc="162">
                <a:solidFill>
                  <a:srgbClr val="B8762A"/>
                </a:solidFill>
                <a:latin typeface="Poppins ExtraLight"/>
                <a:cs typeface="Poppins ExtraLight"/>
              </a:rPr>
              <a:t>1x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407822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 spc="162">
                <a:solidFill>
                  <a:srgbClr val="B8762A"/>
                </a:solidFill>
                <a:latin typeface="Poppins ExtraLight"/>
                <a:cs typeface="Poppins ExtraLight"/>
              </a:rPr>
              <a:t>1x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6492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El area de respeto equivale a la altura de la A del logotipo (1x) por todos los lados. Ningun otro elemento, texto ni borde entra en esa zona.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9202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294">
                <a:solidFill>
                  <a:srgbClr val="B8762A"/>
                </a:solidFill>
                <a:latin typeface="Poppins ExtraLight"/>
                <a:cs typeface="Poppins ExtraLight"/>
              </a:rPr>
              <a:t>TAMANOS MINIMOS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39572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688336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Impreso 32 mm de ancho  ·  Digital 180 px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18211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Logotipo solo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47472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Impreso 26 mm de ancho  ·  Digital 150 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96849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Apilado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261104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Impreso 18 mm de ancho  ·  Digital 96 px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7548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Monograma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047488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Impreso 8 mm de ancho  ·  Digital 32 px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IDENTIDAD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Versiones de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Que version sobre que fondo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1381135" cy="1143000"/>
          </a:xfrm>
          <a:prstGeom prst="rect">
            <a:avLst/>
          </a:prstGeom>
          <a:solidFill>
            <a:srgbClr val="F5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alopez-monogram-negro@512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503" y="2331720"/>
            <a:ext cx="618186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310128"/>
            <a:ext cx="1381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i="0">
                <a:solidFill>
                  <a:srgbClr val="0D0D0C"/>
                </a:solidFill>
                <a:latin typeface="Poppins Medium"/>
                <a:cs typeface="Poppins Medium"/>
              </a:rPr>
              <a:t>Blanco 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12463"/>
            <a:ext cx="1381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Negro</a:t>
            </a:r>
          </a:p>
        </p:txBody>
      </p:sp>
      <p:sp>
        <p:nvSpPr>
          <p:cNvPr id="9" name="Rectangle 8"/>
          <p:cNvSpPr/>
          <p:nvPr/>
        </p:nvSpPr>
        <p:spPr>
          <a:xfrm>
            <a:off x="2350399" y="2103120"/>
            <a:ext cx="1381135" cy="114300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nalopez-monogram-verde@512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943" y="2331720"/>
            <a:ext cx="618186" cy="685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50399" y="3310128"/>
            <a:ext cx="1381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i="0">
                <a:solidFill>
                  <a:srgbClr val="0D0D0C"/>
                </a:solidFill>
                <a:latin typeface="Poppins Medium"/>
                <a:cs typeface="Poppins Medium"/>
              </a:rPr>
              <a:t>Jazmin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399" y="3712463"/>
            <a:ext cx="1381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Verde Profundo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77839" y="2103120"/>
            <a:ext cx="1381135" cy="1143000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nalopez-monogram-cacao@512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383" y="2331720"/>
            <a:ext cx="618186" cy="685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77839" y="3310128"/>
            <a:ext cx="1381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i="0">
                <a:solidFill>
                  <a:srgbClr val="0D0D0C"/>
                </a:solidFill>
                <a:latin typeface="Poppins Medium"/>
                <a:cs typeface="Poppins Medium"/>
              </a:rPr>
              <a:t>Arena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7839" y="3712463"/>
            <a:ext cx="1381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Cacao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5279" y="2103120"/>
            <a:ext cx="1381135" cy="1143000"/>
          </a:xfrm>
          <a:prstGeom prst="rect">
            <a:avLst/>
          </a:prstGeom>
          <a:solidFill>
            <a:srgbClr val="1C2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nalopez-monogram-jazmin@512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3823" y="2331720"/>
            <a:ext cx="618186" cy="685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05279" y="3310128"/>
            <a:ext cx="1381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i="0">
                <a:solidFill>
                  <a:srgbClr val="0D0D0C"/>
                </a:solidFill>
                <a:latin typeface="Poppins Medium"/>
                <a:cs typeface="Poppins Medium"/>
              </a:rPr>
              <a:t>Verde Profundo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5279" y="3712463"/>
            <a:ext cx="1381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Jazmin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32719" y="2103120"/>
            <a:ext cx="1381135" cy="1143000"/>
          </a:xfrm>
          <a:prstGeom prst="rect">
            <a:avLst/>
          </a:prstGeom>
          <a:solidFill>
            <a:srgbClr val="0D0D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analopez-monogram-arena@512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1263" y="2331720"/>
            <a:ext cx="618186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32719" y="3310128"/>
            <a:ext cx="1381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i="0">
                <a:solidFill>
                  <a:srgbClr val="0D0D0C"/>
                </a:solidFill>
                <a:latin typeface="Poppins Medium"/>
                <a:cs typeface="Poppins Medium"/>
              </a:rPr>
              <a:t>Negro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2719" y="3712463"/>
            <a:ext cx="1381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Arena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60159" y="2103120"/>
            <a:ext cx="1381135" cy="1143000"/>
          </a:xfrm>
          <a:prstGeom prst="rect">
            <a:avLst/>
          </a:prstGeom>
          <a:solidFill>
            <a:srgbClr val="492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nalopez-monogram-arena@512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8703" y="2331720"/>
            <a:ext cx="618186" cy="685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460159" y="3310128"/>
            <a:ext cx="1381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i="0">
                <a:solidFill>
                  <a:srgbClr val="0D0D0C"/>
                </a:solidFill>
                <a:latin typeface="Poppins Medium"/>
                <a:cs typeface="Poppins Medium"/>
              </a:rPr>
              <a:t>Cacao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0159" y="3712463"/>
            <a:ext cx="1381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Arena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87599" y="2103120"/>
            <a:ext cx="1381135" cy="1143000"/>
          </a:xfrm>
          <a:prstGeom prst="rect">
            <a:avLst/>
          </a:prstGeom>
          <a:solidFill>
            <a:srgbClr val="585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nalopez-monogram-jazmin@512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6143" y="2331720"/>
            <a:ext cx="618186" cy="685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987599" y="3310128"/>
            <a:ext cx="138113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i="0">
                <a:solidFill>
                  <a:srgbClr val="0D0D0C"/>
                </a:solidFill>
                <a:latin typeface="Poppins Medium"/>
                <a:cs typeface="Poppins Medium"/>
              </a:rPr>
              <a:t>Oliva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87599" y="3712463"/>
            <a:ext cx="13811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Jazmin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224528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Siete versiones monocromas. El logotipo nunca lleva mas de un color, nunca degradados y nunca contorno. Sobre fotografia se usa Jazmin, siempre sobre una zona tranquila.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22452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Sobre Blanco Cal o Jazmin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224528"/>
            <a:ext cx="22219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0D0D0C"/>
                </a:solidFill>
                <a:latin typeface="Poppins Medium"/>
                <a:cs typeface="Poppins Medium"/>
              </a:rPr>
              <a:t>Negro, Verde Profundo o Cacao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71830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Sobre Verde Profundo o Negro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718304"/>
            <a:ext cx="22219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0D0D0C"/>
                </a:solidFill>
                <a:latin typeface="Poppins Medium"/>
                <a:cs typeface="Poppins Medium"/>
              </a:rPr>
              <a:t>Jazmin o Arena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521208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Sobre Arena o kraft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5212080"/>
            <a:ext cx="22219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0D0D0C"/>
                </a:solidFill>
                <a:latin typeface="Poppins Medium"/>
                <a:cs typeface="Poppins Medium"/>
              </a:rPr>
              <a:t>Cacao o Verde Profundo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70585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Sobre fotografia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705856"/>
            <a:ext cx="22219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0D0D0C"/>
                </a:solidFill>
                <a:latin typeface="Poppins Medium"/>
                <a:cs typeface="Poppins Medium"/>
              </a:rPr>
              <a:t>Jazmin sobre zona oscura y tranquila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619963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Foil, relieve o grabado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6199632"/>
            <a:ext cx="22219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0D0D0C"/>
                </a:solidFill>
                <a:latin typeface="Poppins Medium"/>
                <a:cs typeface="Poppins Medium"/>
              </a:rPr>
              <a:t>Ambar (metal) o tinta ciega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IDENTIDAD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Usos incorrectos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294">
                <a:solidFill>
                  <a:srgbClr val="B8762A"/>
                </a:solidFill>
                <a:latin typeface="Poppins ExtraLight"/>
                <a:cs typeface="Poppins ExtraLight"/>
              </a:rPr>
              <a:t>NUNCA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2430703" cy="17373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0487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i="0">
                <a:solidFill>
                  <a:srgbClr val="492B17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188206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Reescribir el logotipo con una fuente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7983" y="2148840"/>
            <a:ext cx="2430703" cy="17373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2303" y="240487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i="0">
                <a:solidFill>
                  <a:srgbClr val="492B17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2303" y="2926080"/>
            <a:ext cx="188206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Estirar, comprimir o inclinar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2148840"/>
            <a:ext cx="2430703" cy="17373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240487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i="0">
                <a:solidFill>
                  <a:srgbClr val="492B17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926080"/>
            <a:ext cx="188206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Rotar el logotipo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8031" y="2148840"/>
            <a:ext cx="2430703" cy="17373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12351" y="240487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i="0">
                <a:solidFill>
                  <a:srgbClr val="492B17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2351" y="2926080"/>
            <a:ext cx="188206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Anadir sombra, brillo o contorno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160520"/>
            <a:ext cx="2430703" cy="17373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41655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i="0">
                <a:solidFill>
                  <a:srgbClr val="492B17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937760"/>
            <a:ext cx="188206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Usar mas de un color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7983" y="4160520"/>
            <a:ext cx="2430703" cy="17373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02303" y="441655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i="0">
                <a:solidFill>
                  <a:srgbClr val="492B17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2303" y="4937760"/>
            <a:ext cx="188206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Cambiar el descriptor de sitio o tamano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4160520"/>
            <a:ext cx="2430703" cy="17373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327" y="441655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i="0">
                <a:solidFill>
                  <a:srgbClr val="492B17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327" y="4937760"/>
            <a:ext cx="188206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Colocarlo sobre una foto ocupada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38031" y="4160520"/>
            <a:ext cx="2430703" cy="17373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12351" y="441655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i="0">
                <a:solidFill>
                  <a:srgbClr val="492B17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2351" y="4937760"/>
            <a:ext cx="188206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i="0">
                <a:solidFill>
                  <a:srgbClr val="0D0D0C"/>
                </a:solidFill>
                <a:latin typeface="Poppins Light"/>
                <a:cs typeface="Poppins Light"/>
              </a:rPr>
              <a:t>Encerrarlo en una caja o pastilla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IDENTIDAD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El monograma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4114800" cy="3200400"/>
          </a:xfrm>
          <a:prstGeom prst="rect">
            <a:avLst/>
          </a:prstGeom>
          <a:solidFill>
            <a:srgbClr val="1C2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nalopez-monogram-jazmin@512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606040"/>
            <a:ext cx="960120" cy="10651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94960" y="1920240"/>
            <a:ext cx="5989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>La A y la L comparten el swash. Es el activo mas pequeno del sistema y el unico que funciona por debajo de 32 px. Se usa en tapa de frasco, sello, favicon, avatar y grabado.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329184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294">
                <a:solidFill>
                  <a:srgbClr val="B8762A"/>
                </a:solidFill>
                <a:latin typeface="Poppins ExtraLight"/>
                <a:cs typeface="Poppins ExtraLight"/>
              </a:rPr>
              <a:t>FAVICON Y 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3749039"/>
            <a:ext cx="822960" cy="8229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vicon-negro-512x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749039"/>
            <a:ext cx="822960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4960" y="466344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512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3952" y="3749039"/>
            <a:ext cx="603504" cy="603504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avicon-negro-180x1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3749039"/>
            <a:ext cx="603504" cy="6035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73952" y="4443983"/>
            <a:ext cx="603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180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33488" y="3749039"/>
            <a:ext cx="438912" cy="438912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vicon-negro-64x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3749039"/>
            <a:ext cx="438912" cy="4389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33488" y="4279392"/>
            <a:ext cx="4389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64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1" y="3749039"/>
            <a:ext cx="347472" cy="347472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vicon-negro-48x4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8431" y="3749039"/>
            <a:ext cx="347472" cy="347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28431" y="418795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48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31936" y="3749039"/>
            <a:ext cx="274320" cy="27432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avicon-negro-32x3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1936" y="3749039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631936" y="4114799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892040"/>
            <a:ext cx="5989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16, 32, 48, 64, 180 y 512 px, en Negro y en Jazmin. Incluye favicon.ico multi-resolucion.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09360" y="0"/>
            <a:ext cx="5882335" cy="6858000"/>
          </a:xfrm>
          <a:prstGeom prst="rect">
            <a:avLst/>
          </a:prstGeom>
          <a:solidFill>
            <a:srgbClr val="492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i="0">
                <a:solidFill>
                  <a:srgbClr val="B8762A"/>
                </a:solidFill>
                <a:latin typeface="Bodoni Moda"/>
                <a:cs typeface="Bodoni Mod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i="0">
                <a:solidFill>
                  <a:srgbClr val="EDE5DA"/>
                </a:solidFill>
                <a:latin typeface="Bodoni Moda"/>
                <a:cs typeface="Bodoni Moda"/>
              </a:rPr>
              <a:t>Color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3484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i="0">
                <a:solidFill>
                  <a:srgbClr val="D6BD9A"/>
                </a:solidFill>
                <a:latin typeface="Poppins Light"/>
                <a:cs typeface="Poppins Light"/>
              </a:rPr>
              <a:t>Paleta, proporcion y combinaciones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COLOR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La paleta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Ocho colores. Ni uno 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811987" y="2092147"/>
            <a:ext cx="1228153" cy="1622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206207" cy="1600200"/>
          </a:xfrm>
          <a:prstGeom prst="rect">
            <a:avLst/>
          </a:prstGeom>
          <a:solidFill>
            <a:srgbClr val="0D0D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22191"/>
            <a:ext cx="1206207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Negro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07408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492B17"/>
                </a:solidFill>
                <a:latin typeface="Poppins Light"/>
                <a:cs typeface="Poppins Light"/>
              </a:rPr>
              <a:t>#0D0D0C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45152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CMYK 0 0 8 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RGB 13 13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38928"/>
            <a:ext cx="120620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Tinta primaria. Texto y logotipo por defecto.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6211" y="2092147"/>
            <a:ext cx="1228153" cy="1622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57183" y="2103120"/>
            <a:ext cx="1206207" cy="1600200"/>
          </a:xfrm>
          <a:prstGeom prst="rect">
            <a:avLst/>
          </a:prstGeom>
          <a:solidFill>
            <a:srgbClr val="1C2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57183" y="3822191"/>
            <a:ext cx="1206207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Verde Profundo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183" y="4407408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492B17"/>
                </a:solidFill>
                <a:latin typeface="Poppins Light"/>
                <a:cs typeface="Poppins Light"/>
              </a:rPr>
              <a:t>#1C2417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7183" y="4645152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CMYK 22 0 36 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57183" y="4846320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RGB 28 36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7183" y="5138928"/>
            <a:ext cx="120620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Color de marca. Packaging, estuches, fondos oscuros.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80434" y="2092147"/>
            <a:ext cx="1228153" cy="1622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91407" y="2103120"/>
            <a:ext cx="1206207" cy="1600200"/>
          </a:xfrm>
          <a:prstGeom prst="rect">
            <a:avLst/>
          </a:prstGeom>
          <a:solidFill>
            <a:srgbClr val="585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91407" y="3822191"/>
            <a:ext cx="1206207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Oliva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1407" y="4407408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492B17"/>
                </a:solidFill>
                <a:latin typeface="Poppins Light"/>
                <a:cs typeface="Poppins Light"/>
              </a:rPr>
              <a:t>#585C41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1407" y="4645152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CMYK 4 0 29 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1407" y="4846320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RGB 88 92 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1407" y="5138928"/>
            <a:ext cx="120620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Secundario. Jardin, botanica, superficies medias.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14658" y="2092147"/>
            <a:ext cx="1228153" cy="1622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25631" y="2103120"/>
            <a:ext cx="1206207" cy="1600200"/>
          </a:xfrm>
          <a:prstGeom prst="rect">
            <a:avLst/>
          </a:prstGeom>
          <a:solidFill>
            <a:srgbClr val="492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5631" y="3822191"/>
            <a:ext cx="1206207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Cacao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5631" y="4407408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492B17"/>
                </a:solidFill>
                <a:latin typeface="Poppins Light"/>
                <a:cs typeface="Poppins Light"/>
              </a:rPr>
              <a:t>#492B17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5631" y="4645152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CMYK 0 41 68 71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5631" y="4846320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RGB 73 43 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25631" y="5138928"/>
            <a:ext cx="120620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Secundario. Materias tostadas: cafe, tabaco, cacao.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48882" y="2092147"/>
            <a:ext cx="1228153" cy="1622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9855" y="2103120"/>
            <a:ext cx="1206207" cy="1600200"/>
          </a:xfrm>
          <a:prstGeom prst="rect">
            <a:avLst/>
          </a:prstGeom>
          <a:solidFill>
            <a:srgbClr val="B8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59855" y="3822191"/>
            <a:ext cx="1206207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Ambar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9855" y="4407408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492B17"/>
                </a:solidFill>
                <a:latin typeface="Poppins Light"/>
                <a:cs typeface="Poppins Light"/>
              </a:rPr>
              <a:t>#B8762A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59855" y="4645152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CMYK 0 36 77 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59855" y="4846320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RGB 184 118 42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59855" y="5138928"/>
            <a:ext cx="120620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Acento unico. Metal, foil, detalle. Nunca dominante.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83106" y="2092147"/>
            <a:ext cx="1228153" cy="1622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94079" y="2103120"/>
            <a:ext cx="1206207" cy="1600200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4079" y="3822191"/>
            <a:ext cx="1206207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Arena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4079" y="4407408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492B17"/>
                </a:solidFill>
                <a:latin typeface="Poppins Light"/>
                <a:cs typeface="Poppins Light"/>
              </a:rPr>
              <a:t>#D6BD9A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4079" y="4645152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CMYK 0 12 28 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4079" y="4846320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RGB 214 189 154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4079" y="5138928"/>
            <a:ext cx="120620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Neutro calido. Kraft, papel, sombra de pared.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17330" y="2092147"/>
            <a:ext cx="1228153" cy="1622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828303" y="2103120"/>
            <a:ext cx="1206207" cy="160020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28303" y="3822191"/>
            <a:ext cx="1206207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Jazmin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8303" y="4407408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492B17"/>
                </a:solidFill>
                <a:latin typeface="Poppins Light"/>
                <a:cs typeface="Poppins Light"/>
              </a:rPr>
              <a:t>#EDE5DA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28303" y="4645152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CMYK 0 3 8 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8303" y="4846320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RGB 237 229 218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28303" y="5138928"/>
            <a:ext cx="120620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Base clara. Etiquetas y reverso del logotipo.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1554" y="2092147"/>
            <a:ext cx="1228153" cy="1622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162527" y="2103120"/>
            <a:ext cx="1206207" cy="1600200"/>
          </a:xfrm>
          <a:prstGeom prst="rect">
            <a:avLst/>
          </a:prstGeom>
          <a:solidFill>
            <a:srgbClr val="F5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62527" y="3822191"/>
            <a:ext cx="1206207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Blanco Cal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62527" y="4407408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492B17"/>
                </a:solidFill>
                <a:latin typeface="Poppins Light"/>
                <a:cs typeface="Poppins Light"/>
              </a:rPr>
              <a:t>#F5F0EA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62527" y="4645152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CMYK 0 2 4 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62527" y="4846320"/>
            <a:ext cx="1206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i="0">
                <a:solidFill>
                  <a:srgbClr val="585C41"/>
                </a:solidFill>
                <a:latin typeface="Poppins Light"/>
                <a:cs typeface="Poppins Light"/>
              </a:rPr>
              <a:t>RGB 245 240 234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62527" y="5138928"/>
            <a:ext cx="120620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Superficie. Fondo de pagina y de fotografia.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COLOR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Proporcion y combinacion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583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El sistema es sobrio por construccion. Una superficie clara domina, un oscuro ancla, y el Ambar aparece una sola vez por pieza.</a:t>
            </a:r>
          </a:p>
        </p:txBody>
      </p:sp>
      <p:sp>
        <p:nvSpPr>
          <p:cNvPr id="5" name="Rectangle 4"/>
          <p:cNvSpPr/>
          <p:nvPr/>
        </p:nvSpPr>
        <p:spPr>
          <a:xfrm>
            <a:off x="811987" y="2412187"/>
            <a:ext cx="3972153" cy="479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3950208" cy="45720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247802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i="0">
                <a:solidFill>
                  <a:srgbClr val="0D0D0C"/>
                </a:solidFill>
                <a:latin typeface="Bodoni Moda"/>
                <a:cs typeface="Bodoni Moda"/>
              </a:rP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4414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>
                <a:solidFill>
                  <a:srgbClr val="0D0D0C"/>
                </a:solidFill>
                <a:latin typeface="Poppins Medium"/>
                <a:cs typeface="Poppins Medium"/>
              </a:rPr>
              <a:t>Blanco Cal o Jazmin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697479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Superficie. Papel, fondo, espacio en blanco.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987" y="3198571"/>
            <a:ext cx="1667865" cy="479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209544"/>
            <a:ext cx="1645920" cy="457200"/>
          </a:xfrm>
          <a:prstGeom prst="rect">
            <a:avLst/>
          </a:prstGeom>
          <a:solidFill>
            <a:srgbClr val="1C2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32644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i="0">
                <a:solidFill>
                  <a:srgbClr val="0D0D0C"/>
                </a:solidFill>
                <a:latin typeface="Bodoni Moda"/>
                <a:cs typeface="Bodoni Moda"/>
              </a:rP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22783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>
                <a:solidFill>
                  <a:srgbClr val="0D0D0C"/>
                </a:solidFill>
                <a:latin typeface="Poppins Medium"/>
                <a:cs typeface="Poppins Medium"/>
              </a:rPr>
              <a:t>Verde Profundo o Negro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483863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Ancla. Estuches, tipografia, bloques oscuros.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987" y="3984955"/>
            <a:ext cx="680313" cy="479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995928"/>
            <a:ext cx="658368" cy="457200"/>
          </a:xfrm>
          <a:prstGeom prst="rect">
            <a:avLst/>
          </a:prstGeom>
          <a:solidFill>
            <a:srgbClr val="585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4050791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i="0">
                <a:solidFill>
                  <a:srgbClr val="0D0D0C"/>
                </a:solidFill>
                <a:latin typeface="Bodoni Moda"/>
                <a:cs typeface="Bodoni Moda"/>
              </a:rPr>
              <a:t>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014215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>
                <a:solidFill>
                  <a:srgbClr val="0D0D0C"/>
                </a:solidFill>
                <a:latin typeface="Poppins Medium"/>
                <a:cs typeface="Poppins Medium"/>
              </a:rPr>
              <a:t>Oliva, Cacao o Arena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270248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Apoyo. Materias, texturas, secundarios.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" y="4771339"/>
            <a:ext cx="351129" cy="479145"/>
          </a:xfrm>
          <a:prstGeom prst="rect">
            <a:avLst/>
          </a:prstGeom>
          <a:solidFill>
            <a:srgbClr val="D6B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782312"/>
            <a:ext cx="329184" cy="457200"/>
          </a:xfrm>
          <a:prstGeom prst="rect">
            <a:avLst/>
          </a:prstGeom>
          <a:solidFill>
            <a:srgbClr val="B8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483717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i="0">
                <a:solidFill>
                  <a:srgbClr val="0D0D0C"/>
                </a:solidFill>
                <a:latin typeface="Bodoni Moda"/>
                <a:cs typeface="Bodoni Moda"/>
              </a:rPr>
              <a:t>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8006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>
                <a:solidFill>
                  <a:srgbClr val="0D0D0C"/>
                </a:solidFill>
                <a:latin typeface="Poppins Medium"/>
                <a:cs typeface="Poppins Medium"/>
              </a:rPr>
              <a:t>Ambar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505663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Acento unico. Foil, detalle, una sola vez.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23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294">
                <a:solidFill>
                  <a:srgbClr val="B8762A"/>
                </a:solidFill>
                <a:latin typeface="Poppins ExtraLight"/>
                <a:cs typeface="Poppins ExtraLight"/>
              </a:rPr>
              <a:t>NUNCA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89320"/>
            <a:ext cx="24307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×  Ambar como fondo de una pieza entera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7983" y="5989320"/>
            <a:ext cx="24307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×  Cacao y Verde Profundo juntos en gran superficie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3007" y="5989320"/>
            <a:ext cx="24307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×  Mas de tres colores de la paleta en una misma pieza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38031" y="5989320"/>
            <a:ext cx="24307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×  Degradados entre colores de marca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09360" y="0"/>
            <a:ext cx="5882335" cy="6858000"/>
          </a:xfrm>
          <a:prstGeom prst="rect">
            <a:avLst/>
          </a:prstGeom>
          <a:solidFill>
            <a:srgbClr val="585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i="0">
                <a:solidFill>
                  <a:srgbClr val="B8762A"/>
                </a:solidFill>
                <a:latin typeface="Bodoni Moda"/>
                <a:cs typeface="Bodoni Mod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i="0">
                <a:solidFill>
                  <a:srgbClr val="EDE5DA"/>
                </a:solidFill>
                <a:latin typeface="Bodoni Moda"/>
                <a:cs typeface="Bodoni Moda"/>
              </a:rPr>
              <a:t>Tipografia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3484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i="0">
                <a:solidFill>
                  <a:srgbClr val="D6BD9A"/>
                </a:solidFill>
                <a:latin typeface="Poppins Light"/>
                <a:cs typeface="Poppins Light"/>
              </a:rPr>
              <a:t>Las tres familias y la escala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TIPOGRAFIA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Tipografia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Tres familias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3271418" cy="137160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327141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5400" i="0">
                <a:solidFill>
                  <a:srgbClr val="0D0D0C"/>
                </a:solidFill>
                <a:latin typeface="Italiana"/>
                <a:cs typeface="Italiana"/>
              </a:rPr>
              <a:t>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32714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i="0">
                <a:solidFill>
                  <a:srgbClr val="0D0D0C"/>
                </a:solidFill>
                <a:latin typeface="Bodoni Moda"/>
                <a:cs typeface="Bodoni Moda"/>
              </a:rPr>
              <a:t>Italiana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69080"/>
            <a:ext cx="32714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RESERVADA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32714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i="0">
                <a:solidFill>
                  <a:srgbClr val="492B17"/>
                </a:solidFill>
                <a:latin typeface="Italiana"/>
                <a:cs typeface="Italiana"/>
              </a:rPr>
              <a:t>ABCDEFGHIJKLM abcdefghijklm 0123456789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327141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Base del logotipo. Fuera de el, solo para numerales muy grandes o el titulo de una coleccion, a 40 px o mas. Nunca para texto.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60138" y="2103120"/>
            <a:ext cx="3271418" cy="137160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0138" y="2240280"/>
            <a:ext cx="327141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5400" i="0">
                <a:solidFill>
                  <a:srgbClr val="0D0D0C"/>
                </a:solidFill>
                <a:latin typeface="Bodoni Moda"/>
                <a:cs typeface="Bodoni Moda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0138" y="3657600"/>
            <a:ext cx="32714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i="0">
                <a:solidFill>
                  <a:srgbClr val="0D0D0C"/>
                </a:solidFill>
                <a:latin typeface="Bodoni Moda"/>
                <a:cs typeface="Bodoni Moda"/>
              </a:rPr>
              <a:t>Bodoni Moda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0138" y="4069080"/>
            <a:ext cx="32714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DISPLAY Y EDITORIAL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0138" y="4434840"/>
            <a:ext cx="32714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i="0">
                <a:solidFill>
                  <a:srgbClr val="492B17"/>
                </a:solidFill>
                <a:latin typeface="Bodoni Moda"/>
                <a:cs typeface="Bodoni Moda"/>
              </a:rPr>
              <a:t>ABCDEFGHIJKLM abcdefghijklm 0123456789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0138" y="5029200"/>
            <a:ext cx="327141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Titulares, nombres de coleccion, citas y lineas de campana. Aporta la z con swash del logotipo. Por debajo de 18 px sus finos se rompen.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7316" y="2103120"/>
            <a:ext cx="3271418" cy="137160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7316" y="2240280"/>
            <a:ext cx="327141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5400" i="0">
                <a:solidFill>
                  <a:srgbClr val="0D0D0C"/>
                </a:solidFill>
                <a:latin typeface="Poppins ExtraLight"/>
                <a:cs typeface="Poppins ExtraLight"/>
              </a:rPr>
              <a:t>Aa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3657600"/>
            <a:ext cx="32714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i="0">
                <a:solidFill>
                  <a:srgbClr val="0D0D0C"/>
                </a:solidFill>
                <a:latin typeface="Bodoni Moda"/>
                <a:cs typeface="Bodoni Moda"/>
              </a:rPr>
              <a:t>Poppins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7316" y="4069080"/>
            <a:ext cx="32714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APOYO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7316" y="4434840"/>
            <a:ext cx="32714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i="0">
                <a:solidFill>
                  <a:srgbClr val="492B17"/>
                </a:solidFill>
                <a:latin typeface="Poppins ExtraLight"/>
                <a:cs typeface="Poppins ExtraLight"/>
              </a:rPr>
              <a:t>ABCDEFGHIJKLM abcdefghijklm 0123456789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7316" y="5029200"/>
            <a:ext cx="327141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El descriptor, en ExtraLight con tracking de 0.30 em. Tambien etiquetas, navegacion, listas de ingredientes, reverso de envase y texto corrido.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144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Las tres son SIL Open Font License: libres para impresion, web, packaging e incrustacion.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TIPOGRAFIA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Escala tipografica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FUNCION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874519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FAMILIA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874519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TAMANO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1874519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i="0">
                <a:solidFill>
                  <a:srgbClr val="0D0D0C"/>
                </a:solidFill>
                <a:latin typeface="Bodoni Moda"/>
                <a:cs typeface="Bodoni Moda"/>
              </a:rPr>
              <a:t>Linea de campana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3957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Bodoni Moda 400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3957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48-96 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23957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-2%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9923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i="0">
                <a:solidFill>
                  <a:srgbClr val="0D0D0C"/>
                </a:solidFill>
                <a:latin typeface="Bodoni Moda"/>
                <a:cs typeface="Bodoni Moda"/>
              </a:rPr>
              <a:t>Titular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99923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Bodoni Moda 400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9992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36-48 px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9992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-1%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02736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i="0">
                <a:solidFill>
                  <a:srgbClr val="0D0D0C"/>
                </a:solidFill>
                <a:latin typeface="Bodoni Moda"/>
                <a:cs typeface="Bodoni Moda"/>
              </a:rPr>
              <a:t>Titular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60273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Bodoni Moda 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60273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24-32 px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60273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i="0">
                <a:solidFill>
                  <a:srgbClr val="0D0D0C"/>
                </a:solidFill>
                <a:latin typeface="Bodoni Moda"/>
                <a:cs typeface="Bodoni Moda"/>
              </a:rPr>
              <a:t>Etiqueta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2062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Poppins ExtraLight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206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11-13 px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206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+0.30 em, versales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809744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i="0">
                <a:solidFill>
                  <a:srgbClr val="0D0D0C"/>
                </a:solidFill>
                <a:latin typeface="Bodoni Moda"/>
                <a:cs typeface="Bodoni Moda"/>
              </a:rPr>
              <a:t>Texto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80974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Poppins Regular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80974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15-17 px / 1.7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480974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41324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i="0">
                <a:solidFill>
                  <a:srgbClr val="0D0D0C"/>
                </a:solidFill>
                <a:latin typeface="Bodoni Moda"/>
                <a:cs typeface="Bodoni Moda"/>
              </a:rPr>
              <a:t>Pie y legal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41324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Poppins Light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54132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11-12 px / 1.5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54132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+0.02 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4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k_perfu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09360" y="0"/>
            <a:ext cx="5882335" cy="6858000"/>
          </a:xfrm>
          <a:prstGeom prst="rect">
            <a:avLst/>
          </a:prstGeom>
          <a:solidFill>
            <a:srgbClr val="1C2417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i="0">
                <a:solidFill>
                  <a:srgbClr val="B8762A"/>
                </a:solidFill>
                <a:latin typeface="Bodoni Moda"/>
                <a:cs typeface="Bodoni Moda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i="0">
                <a:solidFill>
                  <a:srgbClr val="EDE5DA"/>
                </a:solidFill>
                <a:latin typeface="Bodoni Moda"/>
                <a:cs typeface="Bodoni Moda"/>
              </a:rPr>
              <a:t>Aplicacion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i="0">
                <a:solidFill>
                  <a:srgbClr val="D6BD9A"/>
                </a:solidFill>
                <a:latin typeface="Poppins Light"/>
                <a:cs typeface="Poppins Light"/>
              </a:rPr>
              <a:t>Packaging, fotografia, simbolo y endoso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APLICACION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El ritual de la experiencia</a:t>
            </a:r>
          </a:p>
        </p:txBody>
      </p:sp>
      <p:pic>
        <p:nvPicPr>
          <p:cNvPr id="5" name="Picture 4" descr="mk_perfu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3332378" cy="2298192"/>
          </a:xfrm>
          <a:prstGeom prst="rect">
            <a:avLst/>
          </a:prstGeom>
        </p:spPr>
      </p:pic>
      <p:pic>
        <p:nvPicPr>
          <p:cNvPr id="6" name="Picture 5" descr="mk_bag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658" y="2103120"/>
            <a:ext cx="3332378" cy="2298192"/>
          </a:xfrm>
          <a:prstGeom prst="rect">
            <a:avLst/>
          </a:prstGeom>
        </p:spPr>
      </p:pic>
      <p:pic>
        <p:nvPicPr>
          <p:cNvPr id="7" name="Picture 6" descr="mk_soa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6356" y="2103120"/>
            <a:ext cx="3332378" cy="22981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785360"/>
            <a:ext cx="15899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09">
                <a:solidFill>
                  <a:srgbClr val="B8762A"/>
                </a:solidFill>
                <a:latin typeface="Poppins ExtraLight"/>
                <a:cs typeface="Poppins ExtraLigh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59680"/>
            <a:ext cx="15899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Caja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4117" y="4785360"/>
            <a:ext cx="15899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09">
                <a:solidFill>
                  <a:srgbClr val="B8762A"/>
                </a:solidFill>
                <a:latin typeface="Poppins ExtraLight"/>
                <a:cs typeface="Poppins ExtraLigh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4117" y="5059680"/>
            <a:ext cx="15899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Textura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5274" y="4785360"/>
            <a:ext cx="15899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09">
                <a:solidFill>
                  <a:srgbClr val="B8762A"/>
                </a:solidFill>
                <a:latin typeface="Poppins ExtraLight"/>
                <a:cs typeface="Poppins ExtraLigh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5274" y="5059680"/>
            <a:ext cx="15899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Mensaje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6431" y="4785360"/>
            <a:ext cx="15899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09">
                <a:solidFill>
                  <a:srgbClr val="B8762A"/>
                </a:solidFill>
                <a:latin typeface="Poppins ExtraLight"/>
                <a:cs typeface="Poppins ExtraLight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6431" y="5059680"/>
            <a:ext cx="15899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Frasco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7588" y="4785360"/>
            <a:ext cx="15899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09">
                <a:solidFill>
                  <a:srgbClr val="B8762A"/>
                </a:solidFill>
                <a:latin typeface="Poppins ExtraLight"/>
                <a:cs typeface="Poppins ExtraLight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7588" y="5059680"/>
            <a:ext cx="15899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Aroma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8746" y="4785360"/>
            <a:ext cx="15899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09">
                <a:solidFill>
                  <a:srgbClr val="B8762A"/>
                </a:solidFill>
                <a:latin typeface="Poppins ExtraLight"/>
                <a:cs typeface="Poppins ExtraLight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78746" y="5059680"/>
            <a:ext cx="15899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Historia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54040"/>
            <a:ext cx="6583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Estuche en Verde Profundo, etiqueta en Jazmin, cinta en Verde o Ambar, kraft para envio. El jazmin dibujado aparece una vez por pieza, nunca dos.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5654040"/>
            <a:ext cx="36850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i="1">
                <a:solidFill>
                  <a:srgbClr val="492B17"/>
                </a:solidFill>
                <a:latin typeface="Bodoni Moda"/>
                <a:cs typeface="Bodoni Moda"/>
              </a:rPr>
              <a:t>“Este perfume comenzo con un jazmin.”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APLICACION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Texturas y patrones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Material, no adorno</a:t>
            </a:r>
          </a:p>
        </p:txBody>
      </p:sp>
      <p:pic>
        <p:nvPicPr>
          <p:cNvPr id="5" name="Picture 4" descr="texture-limewash-c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1605229" cy="1234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456432"/>
            <a:ext cx="1605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67328"/>
            <a:ext cx="160522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Fondo de pagina, etiqueta, muro de fotografia.</a:t>
            </a:r>
          </a:p>
        </p:txBody>
      </p:sp>
      <p:pic>
        <p:nvPicPr>
          <p:cNvPr id="8" name="Picture 7" descr="texture-plaster-aren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069" y="2103120"/>
            <a:ext cx="1605229" cy="1234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11069" y="3456432"/>
            <a:ext cx="1605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Yeso Arena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1069" y="3767328"/>
            <a:ext cx="160522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Superficie calida, bodegon, fondo de producto.</a:t>
            </a:r>
          </a:p>
        </p:txBody>
      </p:sp>
      <p:pic>
        <p:nvPicPr>
          <p:cNvPr id="11" name="Picture 10" descr="texture-matte-board-verd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178" y="2103120"/>
            <a:ext cx="1605229" cy="1234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99178" y="3456432"/>
            <a:ext cx="1605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Cartulina Verde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9178" y="3767328"/>
            <a:ext cx="160522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Estuche, caja rigida, bolsa, tapa.</a:t>
            </a:r>
          </a:p>
        </p:txBody>
      </p:sp>
      <p:pic>
        <p:nvPicPr>
          <p:cNvPr id="14" name="Picture 13" descr="texture-matte-board-oliv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287" y="2103120"/>
            <a:ext cx="1605229" cy="12344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87287" y="3456432"/>
            <a:ext cx="1605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Cartulina Oliva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767328"/>
            <a:ext cx="160522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Secundario, interior de caja, separadores.</a:t>
            </a:r>
          </a:p>
        </p:txBody>
      </p:sp>
      <p:pic>
        <p:nvPicPr>
          <p:cNvPr id="17" name="Picture 16" descr="texture-matte-board-caca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396" y="2103120"/>
            <a:ext cx="1605229" cy="12344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75396" y="3456432"/>
            <a:ext cx="1605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Cartulina Cacao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5396" y="3767328"/>
            <a:ext cx="160522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Materias tostadas: cafe, tabaco, cacao.</a:t>
            </a:r>
          </a:p>
        </p:txBody>
      </p:sp>
      <p:pic>
        <p:nvPicPr>
          <p:cNvPr id="20" name="Picture 19" descr="texture-kraf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3506" y="2103120"/>
            <a:ext cx="1605229" cy="12344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63506" y="3456432"/>
            <a:ext cx="16052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Kraft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63506" y="3767328"/>
            <a:ext cx="160522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Envio, relleno, papel de seda, faja.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72000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La marca se apoya en materia real: cal, yeso, papel y cartulina mate. La textura se ve, no se anuncia. Una sola textura por pieza.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572000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RECURSOS SUPERPUESTOS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882896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0D0D0C"/>
                </a:solidFill>
                <a:latin typeface="Poppins Medium"/>
                <a:cs typeface="Poppins Medium"/>
              </a:rPr>
              <a:t>Sombra de hoja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882896"/>
            <a:ext cx="36850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Se proyecta sobre muro o producto al 40-60% de opacidad. Nunca sobre el logotipo.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39496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0D0D0C"/>
                </a:solidFill>
                <a:latin typeface="Poppins Medium"/>
                <a:cs typeface="Poppins Medium"/>
              </a:rPr>
              <a:t>Patron de jazmin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5394960"/>
            <a:ext cx="36850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Muy disperso, un solo color, al 10-15% de opacidad. Forro de caja, papel de seda, reverso.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28523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492B17"/>
                </a:solidFill>
                <a:latin typeface="Poppins ExtraLight"/>
                <a:cs typeface="Poppins ExtraLight"/>
              </a:rPr>
              <a:t>NUNCA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596128"/>
            <a:ext cx="23682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×  Dos texturas en la misma superficie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92424" y="5596128"/>
            <a:ext cx="23682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×  Textura detras del logotipo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980176"/>
            <a:ext cx="23682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×  Patron denso o repetido de forma evidente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92424" y="5980176"/>
            <a:ext cx="23682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×  Marmol, degradado o efecto metalico falso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APLICACION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Guia de imagen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Que fotografiamos</a:t>
            </a:r>
          </a:p>
        </p:txBody>
      </p:sp>
      <p:pic>
        <p:nvPicPr>
          <p:cNvPr id="5" name="Picture 4" descr="jasmine_w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2471851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913632"/>
            <a:ext cx="247185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Jazmin real, luz natural, muro de cal</a:t>
            </a:r>
          </a:p>
        </p:txBody>
      </p:sp>
      <p:pic>
        <p:nvPicPr>
          <p:cNvPr id="7" name="Picture 6" descr="shadow_palm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267" y="2103120"/>
            <a:ext cx="2471851" cy="1691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514267" y="3913632"/>
            <a:ext cx="247185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Sombra de vegetacion sobre pared calida</a:t>
            </a:r>
          </a:p>
        </p:txBody>
      </p:sp>
      <p:pic>
        <p:nvPicPr>
          <p:cNvPr id="9" name="Picture 8" descr="mk_perfu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575" y="2103120"/>
            <a:ext cx="2471851" cy="1691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05575" y="3913632"/>
            <a:ext cx="247185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Producto en primer plano, fondo tranquilo</a:t>
            </a:r>
          </a:p>
        </p:txBody>
      </p:sp>
      <p:pic>
        <p:nvPicPr>
          <p:cNvPr id="11" name="Picture 10" descr="jasmine_shee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6883" y="2103120"/>
            <a:ext cx="2471851" cy="1691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96883" y="3913632"/>
            <a:ext cx="247185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Materia prima: cafe, cacao, tabaco, madera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ESPECIFICACION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193359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Luz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22392"/>
            <a:ext cx="193359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Natural y dura. Sombra definida de hoja o celosia.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6006" y="5074920"/>
            <a:ext cx="193359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Color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6006" y="5422392"/>
            <a:ext cx="193359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Calido y contenido. Verde real, arena, cacao. Nunca saturado.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052" y="5074920"/>
            <a:ext cx="193359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Encuadre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052" y="5422392"/>
            <a:ext cx="193359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Generoso. El aire alrededor del objeto es parte de la imagen.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2098" y="5074920"/>
            <a:ext cx="193359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Grano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2098" y="5422392"/>
            <a:ext cx="193359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Fino y visible. Nada de suavizado plastico.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5144" y="5074920"/>
            <a:ext cx="193359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Personas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5144" y="5422392"/>
            <a:ext cx="193359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Manos, piel, gesto. Nunca mirando a camara.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APLICACION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Direccion de arte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4998567" cy="420624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42670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294">
                <a:solidFill>
                  <a:srgbClr val="B8762A"/>
                </a:solidFill>
                <a:latin typeface="Poppins ExtraLight"/>
                <a:cs typeface="Poppins ExtraLight"/>
              </a:rPr>
              <a:t>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700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"/>
                <a:cs typeface="Poppi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651760"/>
            <a:ext cx="380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i="0">
                <a:solidFill>
                  <a:srgbClr val="0D0D0C"/>
                </a:solidFill>
                <a:latin typeface="Poppins Light"/>
                <a:cs typeface="Poppins Light"/>
              </a:rPr>
              <a:t>Luz natural dura, con sombra de hoja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918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"/>
                <a:cs typeface="Poppi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273552"/>
            <a:ext cx="380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i="0">
                <a:solidFill>
                  <a:srgbClr val="0D0D0C"/>
                </a:solidFill>
                <a:latin typeface="Poppins Light"/>
                <a:cs typeface="Poppins Light"/>
              </a:rPr>
              <a:t>Paredes de cal, yeso, piedra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1363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"/>
                <a:cs typeface="Poppi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895344"/>
            <a:ext cx="380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i="0">
                <a:solidFill>
                  <a:srgbClr val="0D0D0C"/>
                </a:solidFill>
                <a:latin typeface="Poppins Light"/>
                <a:cs typeface="Poppins Light"/>
              </a:rPr>
              <a:t>Verde real: jazmin, palma, follaje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535423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"/>
                <a:cs typeface="Poppi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517136"/>
            <a:ext cx="380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i="0">
                <a:solidFill>
                  <a:srgbClr val="0D0D0C"/>
                </a:solidFill>
                <a:latin typeface="Poppins Light"/>
                <a:cs typeface="Poppins Light"/>
              </a:rPr>
              <a:t>Producto en primer plano, fondo tranquilo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157215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"/>
                <a:cs typeface="Poppi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5138927"/>
            <a:ext cx="380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i="0">
                <a:solidFill>
                  <a:srgbClr val="0D0D0C"/>
                </a:solidFill>
                <a:latin typeface="Poppins Light"/>
                <a:cs typeface="Poppins Light"/>
              </a:rPr>
              <a:t>Grano fino, color calido y contenido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0167" y="1783080"/>
            <a:ext cx="4998567" cy="4206240"/>
          </a:xfrm>
          <a:prstGeom prst="rect">
            <a:avLst/>
          </a:prstGeom>
          <a:solidFill>
            <a:srgbClr val="F5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70167" y="1783080"/>
            <a:ext cx="4998567" cy="4206240"/>
          </a:xfrm>
          <a:prstGeom prst="rect">
            <a:avLst/>
          </a:prstGeom>
          <a:solidFill>
            <a:srgbClr val="D6BD9A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5927" y="2103120"/>
            <a:ext cx="42670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294">
                <a:solidFill>
                  <a:srgbClr val="492B17"/>
                </a:solidFill>
                <a:latin typeface="Poppins ExtraLight"/>
                <a:cs typeface="Poppins ExtraLight"/>
              </a:rP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5927" y="26700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7407" y="2651760"/>
            <a:ext cx="380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i="0">
                <a:solidFill>
                  <a:srgbClr val="0D0D0C"/>
                </a:solidFill>
                <a:latin typeface="Poppins Light"/>
                <a:cs typeface="Poppins Light"/>
              </a:rPr>
              <a:t>Estudio plano sin sombra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5927" y="32918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7407" y="3273552"/>
            <a:ext cx="380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i="0">
                <a:solidFill>
                  <a:srgbClr val="0D0D0C"/>
                </a:solidFill>
                <a:latin typeface="Poppins Light"/>
                <a:cs typeface="Poppins Light"/>
              </a:rPr>
              <a:t>Saturacion alta o filtros de color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5927" y="391363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7407" y="3895344"/>
            <a:ext cx="380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i="0">
                <a:solidFill>
                  <a:srgbClr val="0D0D0C"/>
                </a:solidFill>
                <a:latin typeface="Poppins Light"/>
                <a:cs typeface="Poppins Light"/>
              </a:rPr>
              <a:t>Clises de Cuba: coches, banderas, puros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5927" y="4535423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47407" y="4517136"/>
            <a:ext cx="380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i="0">
                <a:solidFill>
                  <a:srgbClr val="0D0D0C"/>
                </a:solidFill>
                <a:latin typeface="Poppins Light"/>
                <a:cs typeface="Poppins Light"/>
              </a:rPr>
              <a:t>Modelos mirando a camara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5927" y="5157215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"/>
                <a:cs typeface="Poppins"/>
              </a:rPr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7407" y="5138927"/>
            <a:ext cx="380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i="0">
                <a:solidFill>
                  <a:srgbClr val="0D0D0C"/>
                </a:solidFill>
                <a:latin typeface="Poppins Light"/>
                <a:cs typeface="Poppins Light"/>
              </a:rPr>
              <a:t>Fondos ocupados detras del logotipo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APLICACION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El jazmin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Simbolo secundario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57400"/>
            <a:ext cx="3931920" cy="3310128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alopez-jasmine-branch-diagonal-oliva@6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286000"/>
            <a:ext cx="3349818" cy="2852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12080" y="2057400"/>
            <a:ext cx="615391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>La flor de jazmin es el simbolo secundario de la casa: el jazmin de Ana. Se dibuja a linea, a un solo color, y aparece en frasco, tapa, sello, etiqueta y favicon.</a:t>
            </a:r>
          </a:p>
          <a:p>
            <a:pPr algn="l">
              <a:lnSpc>
                <a:spcPct val="162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/>
            </a:r>
          </a:p>
          <a:p>
            <a:pPr algn="l">
              <a:lnSpc>
                <a:spcPct val="162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>No remite a “La Habana”, sino directamente a ella.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3931920"/>
            <a:ext cx="6153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REGLAS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4279392"/>
            <a:ext cx="6153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—  Un solo color de la paleta, nunca relleno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645152"/>
            <a:ext cx="6153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—  Una sola aparicion por pieza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5010912"/>
            <a:ext cx="6153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—  Nunca se combina con el monograma en el mismo plano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5376672"/>
            <a:ext cx="6153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—  Nunca se usa como patron denso o repetido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APLICACION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Las ilustraciones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Seis dibujos de jazmin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1605229" cy="155448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alopez-jasmine-bloom-oliva@6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212848"/>
            <a:ext cx="1467059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767328"/>
            <a:ext cx="160522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Flor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611069" y="2103120"/>
            <a:ext cx="1605229" cy="155448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nalopez-jasmine-branch-wide-oliva@600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797" y="2212848"/>
            <a:ext cx="2243738" cy="13350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11069" y="3767328"/>
            <a:ext cx="160522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Rama ancha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9178" y="2103120"/>
            <a:ext cx="1605229" cy="155448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nalopez-jasmine-branch-diagonal-oliva@600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906" y="2212848"/>
            <a:ext cx="1567543" cy="13350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99178" y="3767328"/>
            <a:ext cx="160522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Rama diagonal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2103120"/>
            <a:ext cx="1605229" cy="155448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nalopez-jasmine-single-oliva@600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7015" y="2212848"/>
            <a:ext cx="2048630" cy="13350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87287" y="3767328"/>
            <a:ext cx="160522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Flor sola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5396" y="2103120"/>
            <a:ext cx="1605229" cy="155448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nalopez-jasmine-spray-oliva@600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5124" y="2212848"/>
            <a:ext cx="2218876" cy="13350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75396" y="3767328"/>
            <a:ext cx="160522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Ramillete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63506" y="2103120"/>
            <a:ext cx="1605229" cy="155448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nalopez-jasmine-stem-oliva@600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3234" y="2212848"/>
            <a:ext cx="1174508" cy="13350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63506" y="3767328"/>
            <a:ext cx="160522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i="0">
                <a:solidFill>
                  <a:srgbClr val="0D0D0C"/>
                </a:solidFill>
                <a:latin typeface="Bodoni Moda"/>
                <a:cs typeface="Bodoni Moda"/>
              </a:rPr>
              <a:t>Tallo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9768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Seis dibujos vectoriales de jazmin, en las siete versiones de color. Son el repertorio completo: no se dibujan flores nuevas ni se modifican estas.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297680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USO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645152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0D0D0C"/>
                </a:solidFill>
                <a:latin typeface="Poppins Medium"/>
                <a:cs typeface="Poppins Medium"/>
              </a:rPr>
              <a:t>Flor sola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645152"/>
            <a:ext cx="28620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Favicon, sello, marcaje pequeno.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502920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0D0D0C"/>
                </a:solidFill>
                <a:latin typeface="Poppins Medium"/>
                <a:cs typeface="Poppins Medium"/>
              </a:rPr>
              <a:t>Ramillete y Tallo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029200"/>
            <a:ext cx="28620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Etiqueta, faja, esquina de tarjeta.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413248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0D0D0C"/>
                </a:solidFill>
                <a:latin typeface="Poppins Medium"/>
                <a:cs typeface="Poppins Medium"/>
              </a:rPr>
              <a:t>Ramas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5413248"/>
            <a:ext cx="28620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Estuche, bolsa, cabecera, pagina completa.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797296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0D0D0C"/>
                </a:solidFill>
                <a:latin typeface="Poppins Medium"/>
                <a:cs typeface="Poppins Medium"/>
              </a:rPr>
              <a:t>Flor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797296"/>
            <a:ext cx="28620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Pieza unica de gran formato.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APLICACION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Aplicaciones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Como debe verse en el mundo real</a:t>
            </a:r>
          </a:p>
        </p:txBody>
      </p:sp>
      <p:pic>
        <p:nvPicPr>
          <p:cNvPr id="5" name="Picture 4" descr="mk_perfu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84831"/>
            <a:ext cx="3307994" cy="22813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4567375"/>
            <a:ext cx="330799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Eau de Parfum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3135"/>
            <a:ext cx="330799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Frasco transparente, etiqueta en Jazmin, estuche en Verde Profundo. El jazmin grabado en la caja, una sola vez.</a:t>
            </a:r>
          </a:p>
        </p:txBody>
      </p:sp>
      <p:pic>
        <p:nvPicPr>
          <p:cNvPr id="8" name="Picture 7" descr="mk_bag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850" y="2084831"/>
            <a:ext cx="3307994" cy="22813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41850" y="4567375"/>
            <a:ext cx="330799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Bolsa y papeleria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1850" y="4933135"/>
            <a:ext cx="330799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Dos versiones: Jazmin con asa Ambar, Verde Profundo con asa negra. Logotipo pequeno y centrado.</a:t>
            </a:r>
          </a:p>
        </p:txBody>
      </p:sp>
      <p:pic>
        <p:nvPicPr>
          <p:cNvPr id="11" name="Picture 10" descr="mk_soa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0740" y="2084831"/>
            <a:ext cx="3307994" cy="22813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60740" y="4567375"/>
            <a:ext cx="330799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Jabon y cuidado corporal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0740" y="4933135"/>
            <a:ext cx="330799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Faja de papel en Jazmin sobre bloque Cacao. Kraft y cinta Verde para el envio.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6072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i="0">
                <a:solidFill>
                  <a:srgbClr val="492B17"/>
                </a:solidFill>
                <a:latin typeface="Poppins Light"/>
                <a:cs typeface="Poppins Light"/>
              </a:rPr>
              <a:t>Estas piezas son la referencia visual de la casa. Ante cualquier duda de proporcion, color o colocacion del logotipo, se resuelve mirando estas tres.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APLICACION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Iconografia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Sistema, no coleccion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1589989" cy="10515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50592"/>
            <a:ext cx="15899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i="0">
                <a:solidFill>
                  <a:srgbClr val="585C41"/>
                </a:solidFill>
                <a:latin typeface="Bodoni Moda"/>
                <a:cs typeface="Bodoni Mod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5899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Flor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21024"/>
            <a:ext cx="158998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Jazmin. Memoria y origen.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14117" y="2103120"/>
            <a:ext cx="1589989" cy="10515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14117" y="2450592"/>
            <a:ext cx="15899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i="0">
                <a:solidFill>
                  <a:srgbClr val="585C41"/>
                </a:solidFill>
                <a:latin typeface="Bodoni Moda"/>
                <a:cs typeface="Bodoni Mod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4117" y="3291840"/>
            <a:ext cx="15899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Naturaleza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4117" y="3621024"/>
            <a:ext cx="158998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Hoja. Jardin y botanica.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5274" y="2103120"/>
            <a:ext cx="1589989" cy="10515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5274" y="2450592"/>
            <a:ext cx="15899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i="0">
                <a:solidFill>
                  <a:srgbClr val="585C41"/>
                </a:solidFill>
                <a:latin typeface="Bodoni Moda"/>
                <a:cs typeface="Bodoni Mod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5274" y="3291840"/>
            <a:ext cx="15899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Ciencia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5274" y="3621024"/>
            <a:ext cx="158998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Matraz. Formulacion y biologia.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431" y="2103120"/>
            <a:ext cx="1589989" cy="10515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6431" y="2450592"/>
            <a:ext cx="15899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i="0">
                <a:solidFill>
                  <a:srgbClr val="585C41"/>
                </a:solidFill>
                <a:latin typeface="Bodoni Moda"/>
                <a:cs typeface="Bodoni Mod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6431" y="3291840"/>
            <a:ext cx="15899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Tabaco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6431" y="3621024"/>
            <a:ext cx="158998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Hoja de tabaco. Ritual y tierra.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87588" y="2103120"/>
            <a:ext cx="1589989" cy="10515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7588" y="2450592"/>
            <a:ext cx="15899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i="0">
                <a:solidFill>
                  <a:srgbClr val="585C41"/>
                </a:solidFill>
                <a:latin typeface="Bodoni Moda"/>
                <a:cs typeface="Bodoni Moda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7588" y="3291840"/>
            <a:ext cx="15899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Cafe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7588" y="3621024"/>
            <a:ext cx="158998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Grano. Manana y hogar.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78746" y="2103120"/>
            <a:ext cx="1589989" cy="105156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8746" y="2450592"/>
            <a:ext cx="158998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i="0">
                <a:solidFill>
                  <a:srgbClr val="585C41"/>
                </a:solidFill>
                <a:latin typeface="Bodoni Moda"/>
                <a:cs typeface="Bodoni Moda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8746" y="3291840"/>
            <a:ext cx="15899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Cacao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78746" y="3621024"/>
            <a:ext cx="158998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i="0">
                <a:solidFill>
                  <a:srgbClr val="585C41"/>
                </a:solidFill>
                <a:latin typeface="Poppins Light"/>
                <a:cs typeface="Poppins Light"/>
              </a:rPr>
              <a:t>Vaina. Calidez y placer.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52628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i="0">
                <a:solidFill>
                  <a:srgbClr val="585C41"/>
                </a:solidFill>
                <a:latin typeface="Poppins Light"/>
                <a:cs typeface="Poppins Light"/>
              </a:rPr>
              <a:t>Seis temas cubren todo el universo de la casa. Se dibujan a linea, con el mismo grosor que el jazmin, sobre una retina de 24 px.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526280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ESPECIFICACION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846320"/>
            <a:ext cx="4599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—  Retina de 24 px, trazo de 1.5 px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157216"/>
            <a:ext cx="4599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—  Terminaciones redondas, sin relleno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468112"/>
            <a:ext cx="4599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—  Un solo color de la paleta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779007"/>
            <a:ext cx="4599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i="0">
                <a:solidFill>
                  <a:srgbClr val="585C41"/>
                </a:solidFill>
                <a:latin typeface="Poppins Light"/>
                <a:cs typeface="Poppins Light"/>
              </a:rPr>
              <a:t>—  Mismo peso visual que el jazmin dibujado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03504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>
                <a:solidFill>
                  <a:srgbClr val="492B17"/>
                </a:solidFill>
                <a:latin typeface="Poppins Light"/>
                <a:cs typeface="Poppins Light"/>
              </a:rPr>
              <a:t>Pendiente: dibujar los seis iconos. Hoy solo existe la especificacion.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APLICACION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VELUM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Endoso discreto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i="0">
                <a:solidFill>
                  <a:srgbClr val="0D0D0C"/>
                </a:solidFill>
                <a:latin typeface="Poppins Light"/>
                <a:cs typeface="Poppins Light"/>
              </a:rPr>
              <a:t>AnaLopez opera como casa independiente. VELUM aparece de forma discreta, nunca dentro del lockup principal, y nunca en la cara frontal de un envase.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DONDE 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64992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•  Reverso de envase y estuche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6732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•  Pie de pagina del sitio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9664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•  Papeleria corporativa y presentaciones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•  Notas de prensa y textos legales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971800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492B17"/>
                </a:solidFill>
                <a:latin typeface="Poppins ExtraLight"/>
                <a:cs typeface="Poppins ExtraLight"/>
              </a:rPr>
              <a:t>DONDE 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364992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×  Dentro del lockup de AnaLopez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76732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×  Cara frontal de envase o etiqueta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9664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×  Campana, redes sociales o anuncios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4572000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×  Con la paleta azul y oro de VELUM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2057400"/>
            <a:ext cx="3456432" cy="3017520"/>
          </a:xfrm>
          <a:prstGeom prst="rect">
            <a:avLst/>
          </a:prstGeom>
          <a:solidFill>
            <a:srgbClr val="1C2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nalopez-stacked-jazmin@80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487168"/>
            <a:ext cx="1417320" cy="128090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09560" y="4160520"/>
            <a:ext cx="34564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 i="0" spc="270">
                <a:solidFill>
                  <a:srgbClr val="D6BD9A"/>
                </a:solidFill>
                <a:latin typeface="Poppins ExtraLight"/>
                <a:cs typeface="Poppins ExtraLight"/>
              </a:rPr>
              <a:t>UNA CASA VELUM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5257800"/>
            <a:ext cx="34564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i="0">
                <a:solidFill>
                  <a:srgbClr val="585C41"/>
                </a:solidFill>
                <a:latin typeface="Poppins Light"/>
                <a:cs typeface="Poppins Light"/>
              </a:rPr>
              <a:t>Poppins ExtraLight, versales, tracking 0.30 em, a un maximo del 40% del ancho del logotipo, en Oliva o Arena.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APLICACION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Voz y tagline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i="0">
                <a:solidFill>
                  <a:srgbClr val="585C41"/>
                </a:solidFill>
                <a:latin typeface="Poppins Light"/>
                <a:cs typeface="Poppins Light"/>
              </a:rPr>
              <a:t>Poetica, pero precisa. Emocional, pero sofisticada. Cultural, pero contemporanea. Personal, pero nunca sentimentalista.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423160"/>
            <a:ext cx="5029200" cy="1371600"/>
          </a:xfrm>
          <a:prstGeom prst="rect">
            <a:avLst/>
          </a:prstGeom>
          <a:solidFill>
            <a:srgbClr val="ED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65176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MEJOR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971800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i="0">
                <a:solidFill>
                  <a:srgbClr val="0D0D0C"/>
                </a:solidFill>
                <a:latin typeface="Bodoni Moda"/>
                <a:cs typeface="Bodoni Moda"/>
              </a:rPr>
              <a:t>“Cada manana olia a jazmin.”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2423160"/>
            <a:ext cx="5193792" cy="1371600"/>
          </a:xfrm>
          <a:prstGeom prst="rect">
            <a:avLst/>
          </a:prstGeom>
          <a:solidFill>
            <a:srgbClr val="D6BD9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65176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492B17"/>
                </a:solidFill>
                <a:latin typeface="Poppins ExtraLight"/>
                <a:cs typeface="Poppins ExtraLight"/>
              </a:rPr>
              <a:t>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971800"/>
            <a:ext cx="455371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i="0">
                <a:solidFill>
                  <a:srgbClr val="585C41"/>
                </a:solidFill>
                <a:latin typeface="Poppins Light"/>
                <a:cs typeface="Poppins Light"/>
              </a:rPr>
              <a:t>“Una fragancia inspirada en la magia de Cuba.”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DESCRIPTOR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0">
                <a:solidFill>
                  <a:srgbClr val="0D0D0C"/>
                </a:solidFill>
                <a:latin typeface="Bodoni Moda"/>
                <a:cs typeface="Bodoni Moda"/>
              </a:rPr>
              <a:t>Aromas que Transportan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4160520"/>
            <a:ext cx="5193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47">
                <a:solidFill>
                  <a:srgbClr val="B8762A"/>
                </a:solidFill>
                <a:latin typeface="Poppins ExtraLight"/>
                <a:cs typeface="Poppins ExtraLight"/>
              </a:rPr>
              <a:t>TAGLINE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480560"/>
            <a:ext cx="51937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i="1">
                <a:solidFill>
                  <a:srgbClr val="492B17"/>
                </a:solidFill>
                <a:latin typeface="Bodoni Moda"/>
                <a:cs typeface="Bodoni Moda"/>
              </a:rPr>
              <a:t>The scent of what remains.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12080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i="0">
                <a:solidFill>
                  <a:srgbClr val="585C41"/>
                </a:solidFill>
                <a:latin typeface="Poppins Light"/>
                <a:cs typeface="Poppins Light"/>
              </a:rPr>
              <a:t>El descriptor vive en el lockup. El tagline vive en campana, nunca dentro del logotipo. No se traducen.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30352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i="0" spc="315">
                <a:solidFill>
                  <a:srgbClr val="585C41"/>
                </a:solidFill>
                <a:latin typeface="Poppins ExtraLight"/>
                <a:cs typeface="Poppins ExtraLight"/>
              </a:rPr>
              <a:t>MANUAL DE MARCA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i="0">
                <a:solidFill>
                  <a:srgbClr val="0D0D0C"/>
                </a:solidFill>
                <a:latin typeface="Bodoni Moda"/>
                <a:cs typeface="Bodoni Moda"/>
              </a:rPr>
              <a:t>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MARCA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1819655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AnaLopez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5887" y="1874519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CATEGORIA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64727" y="1819655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Casa de perfumeria y belleza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877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ORIGEN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532888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Cuba / La Habana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5887" y="258775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SIGNIFICADO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4727" y="2532888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Homenaje a Ana Lopez, la abuela fundadora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009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ADN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246120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Jazmin + memoria + Cuba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33009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DIFERENCIADOR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4727" y="3246120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Historia real + ciencia + cultura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14215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POSICIONAMIENTO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959352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Perfumeria nicho contemporanea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4014215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PUBLICO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4727" y="3959352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Premium 25-45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274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PRODUCTO HEROE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672584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Eau de Parfum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47274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DESCRIPTOR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4727" y="4672584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Aromas que Transportan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406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TAGLINE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5385816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The scent of what remains.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887" y="54406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i="0" spc="227">
                <a:solidFill>
                  <a:srgbClr val="B8762A"/>
                </a:solidFill>
                <a:latin typeface="Poppins ExtraLight"/>
                <a:cs typeface="Poppins ExtraLight"/>
              </a:rPr>
              <a:t>MATRIZ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4727" y="5385816"/>
            <a:ext cx="280400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i="0">
                <a:solidFill>
                  <a:srgbClr val="0D0D0C"/>
                </a:solidFill>
                <a:latin typeface="Bodoni Moda"/>
                <a:cs typeface="Bodoni Moda"/>
              </a:rPr>
              <a:t>VELUM, endoso discreto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4190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AnaLopez  ·  Manual de Marca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54335" y="6419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i="0">
                <a:solidFill>
                  <a:srgbClr val="585C41"/>
                </a:solidFill>
                <a:latin typeface="Poppins Light"/>
                <a:cs typeface="Poppins Light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4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verlay-leaf-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analopez-monogram-jazmin@512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874519"/>
            <a:ext cx="841248" cy="9332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324612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i="0">
                <a:solidFill>
                  <a:srgbClr val="D6BD9A"/>
                </a:solidFill>
                <a:latin typeface="Poppins Light"/>
                <a:cs typeface="Poppins Light"/>
              </a:rPr>
              <a:t>Y nosotros decidimos convertirla en perfume.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3000" i="1">
                <a:solidFill>
                  <a:srgbClr val="EDE5DA"/>
                </a:solidFill>
                <a:latin typeface="Bodoni Moda"/>
                <a:cs typeface="Bodoni Moda"/>
              </a:rPr>
              <a:t>The scent of what remains.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 i="0" spc="270">
                <a:solidFill>
                  <a:srgbClr val="D6BD9A"/>
                </a:solidFill>
                <a:latin typeface="Poppins ExtraLight"/>
                <a:cs typeface="Poppins ExtraLight"/>
              </a:rPr>
              <a:t>UNA CASA VELUM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